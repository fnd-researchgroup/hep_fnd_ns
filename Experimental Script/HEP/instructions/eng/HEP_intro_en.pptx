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9" r:id="rId3"/>
    <p:sldId id="261" r:id="rId4"/>
    <p:sldId id="262" r:id="rId5"/>
    <p:sldId id="260" r:id="rId6"/>
    <p:sldId id="263" r:id="rId7"/>
    <p:sldId id="264" r:id="rId8"/>
    <p:sldId id="266" r:id="rId9"/>
  </p:sldIdLst>
  <p:sldSz cx="5853113" cy="32908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 userDrawn="1">
          <p15:clr>
            <a:srgbClr val="A4A3A4"/>
          </p15:clr>
        </p15:guide>
        <p15:guide id="2" pos="36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4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4"/>
    <p:restoredTop sz="94677"/>
  </p:normalViewPr>
  <p:slideViewPr>
    <p:cSldViewPr snapToGrid="0" snapToObjects="1">
      <p:cViewPr varScale="1">
        <p:scale>
          <a:sx n="232" d="100"/>
          <a:sy n="232" d="100"/>
        </p:scale>
        <p:origin x="822" y="186"/>
      </p:cViewPr>
      <p:guideLst>
        <p:guide orient="horz" pos="2073"/>
        <p:guide pos="36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639" y="538578"/>
            <a:ext cx="4389835" cy="1145717"/>
          </a:xfrm>
        </p:spPr>
        <p:txBody>
          <a:bodyPr anchor="b"/>
          <a:lstStyle>
            <a:lvl1pPr algn="ctr"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639" y="1728478"/>
            <a:ext cx="4389835" cy="794536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10" indent="0" algn="ctr">
              <a:buNone/>
              <a:defRPr sz="960"/>
            </a:lvl2pPr>
            <a:lvl3pPr marL="438821" indent="0" algn="ctr">
              <a:buNone/>
              <a:defRPr sz="864"/>
            </a:lvl3pPr>
            <a:lvl4pPr marL="658231" indent="0" algn="ctr">
              <a:buNone/>
              <a:defRPr sz="768"/>
            </a:lvl4pPr>
            <a:lvl5pPr marL="877641" indent="0" algn="ctr">
              <a:buNone/>
              <a:defRPr sz="768"/>
            </a:lvl5pPr>
            <a:lvl6pPr marL="1097051" indent="0" algn="ctr">
              <a:buNone/>
              <a:defRPr sz="768"/>
            </a:lvl6pPr>
            <a:lvl7pPr marL="1316462" indent="0" algn="ctr">
              <a:buNone/>
              <a:defRPr sz="768"/>
            </a:lvl7pPr>
            <a:lvl8pPr marL="1535872" indent="0" algn="ctr">
              <a:buNone/>
              <a:defRPr sz="768"/>
            </a:lvl8pPr>
            <a:lvl9pPr marL="1755282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7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8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353" y="820437"/>
            <a:ext cx="5048310" cy="1368918"/>
          </a:xfrm>
        </p:spPr>
        <p:txBody>
          <a:bodyPr anchor="b"/>
          <a:lstStyle>
            <a:lvl1pPr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353" y="2202305"/>
            <a:ext cx="5048310" cy="719882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1pPr>
            <a:lvl2pPr marL="21941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8821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23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764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05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646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587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528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0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402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63138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5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175210"/>
            <a:ext cx="5048310" cy="6360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164" y="806725"/>
            <a:ext cx="2476141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164" y="1202088"/>
            <a:ext cx="2476141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3139" y="806725"/>
            <a:ext cx="2488335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63139" y="1202088"/>
            <a:ext cx="2488335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0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5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7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8336" y="473827"/>
            <a:ext cx="2963138" cy="2338663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88336" y="473827"/>
            <a:ext cx="2963138" cy="2338663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410" indent="0">
              <a:buNone/>
              <a:defRPr sz="1344"/>
            </a:lvl2pPr>
            <a:lvl3pPr marL="438821" indent="0">
              <a:buNone/>
              <a:defRPr sz="1152"/>
            </a:lvl3pPr>
            <a:lvl4pPr marL="658231" indent="0">
              <a:buNone/>
              <a:defRPr sz="960"/>
            </a:lvl4pPr>
            <a:lvl5pPr marL="877641" indent="0">
              <a:buNone/>
              <a:defRPr sz="960"/>
            </a:lvl5pPr>
            <a:lvl6pPr marL="1097051" indent="0">
              <a:buNone/>
              <a:defRPr sz="960"/>
            </a:lvl6pPr>
            <a:lvl7pPr marL="1316462" indent="0">
              <a:buNone/>
              <a:defRPr sz="960"/>
            </a:lvl7pPr>
            <a:lvl8pPr marL="1535872" indent="0">
              <a:buNone/>
              <a:defRPr sz="960"/>
            </a:lvl8pPr>
            <a:lvl9pPr marL="1755282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0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3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88634" y="175210"/>
            <a:ext cx="1262077" cy="2788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2401" y="175210"/>
            <a:ext cx="3713069" cy="2788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0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2402" y="175210"/>
            <a:ext cx="5048310" cy="636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402" y="876047"/>
            <a:ext cx="5048310" cy="208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2402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6E4E-9A4C-584C-B041-ED1EA68C6A4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8844" y="3050166"/>
            <a:ext cx="1975426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33761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7DD6F-C93A-6745-AFE0-E5CD39CD12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821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05" indent="-109705" algn="l" defTabSz="438821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15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52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793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34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675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16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57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498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1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82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23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64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05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46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587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28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" y="998773"/>
            <a:ext cx="5850467" cy="57937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During the following experiment you will see one of two possible symbols </a:t>
            </a:r>
            <a:b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for blocks of 20 seconds each:</a:t>
            </a: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 heart or a headphone.</a:t>
            </a: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5" name="Bild 2" descr="Macintosh HD:Users:fpetzschner:task:hbattTask:images:heart_im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392" y="1894811"/>
            <a:ext cx="296014" cy="437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Bild 4" descr="Macintosh HD:Users:fpetzschner:task:hbattTask:images:sound_img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19" y="1936500"/>
            <a:ext cx="479357" cy="39583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1323" y="467851"/>
            <a:ext cx="5850467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“Focus your attention” - Task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3663958" y="3086520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to read the next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9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2" descr="Macintosh HD:Users:fpetzschner:task:hbattTask:images:heart_im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598" y="207205"/>
            <a:ext cx="546460" cy="7546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1078373" y="1166876"/>
            <a:ext cx="4011637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4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Whenever the heart symbol is shown, </a:t>
            </a:r>
            <a:br>
              <a:rPr lang="en-US" sz="134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sz="1344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concentrate on you own heartbeat</a:t>
            </a:r>
            <a:r>
              <a:rPr lang="en-US" sz="134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br>
              <a:rPr lang="en-US" sz="134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sz="1344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for the entire duration the image is on the screen</a:t>
            </a:r>
            <a:r>
              <a:rPr lang="en-US" sz="1344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!</a:t>
            </a:r>
            <a:endParaRPr lang="en-US" sz="1344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580066" y="2138056"/>
            <a:ext cx="4915711" cy="46737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Please </a:t>
            </a:r>
            <a:r>
              <a:rPr lang="en-US" sz="1152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DO NOT</a:t>
            </a:r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feel your pulse or change your breathing deliberately.</a:t>
            </a:r>
            <a:b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Please </a:t>
            </a:r>
            <a:r>
              <a:rPr lang="en-US" sz="1152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DO</a:t>
            </a:r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en-US" sz="1152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remain seated still and fixate the symbol in front of you. 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4152513" y="3046696"/>
            <a:ext cx="1587888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to read the next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ED52DD-D67B-FCD2-8705-0795FF85C3B9}"/>
              </a:ext>
            </a:extLst>
          </p:cNvPr>
          <p:cNvSpPr txBox="1">
            <a:spLocks/>
          </p:cNvSpPr>
          <p:nvPr/>
        </p:nvSpPr>
        <p:spPr>
          <a:xfrm>
            <a:off x="-250155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to read the previous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12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449931" y="1227818"/>
            <a:ext cx="4928145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Whenever the headphones are shown, </a:t>
            </a:r>
            <a:b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concentrate on the white noise sound stimulus in your headphones</a:t>
            </a:r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/>
            </a:r>
            <a:b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for the entire duration the image is shown on the screen!</a:t>
            </a: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8" name="Bild 4" descr="Macintosh HD:Users:fpetzschner:task:hbattTask:images:sound_im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533" y="268560"/>
            <a:ext cx="977081" cy="8007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580066" y="2075125"/>
            <a:ext cx="4915711" cy="46737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Please </a:t>
            </a:r>
            <a:r>
              <a:rPr lang="en-US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DO</a:t>
            </a:r>
            <a:r>
              <a:rPr lang="en-US" sz="1152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remain seated still and fixate the symbol in front of you</a:t>
            </a:r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. 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94AD6B3-9ED7-D569-C65E-5BA68D719756}"/>
              </a:ext>
            </a:extLst>
          </p:cNvPr>
          <p:cNvSpPr txBox="1">
            <a:spLocks/>
          </p:cNvSpPr>
          <p:nvPr/>
        </p:nvSpPr>
        <p:spPr>
          <a:xfrm>
            <a:off x="4152513" y="3046696"/>
            <a:ext cx="1587888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to read the next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10F8-9E43-3036-DCB1-B50FDDD2F8F0}"/>
              </a:ext>
            </a:extLst>
          </p:cNvPr>
          <p:cNvSpPr txBox="1">
            <a:spLocks/>
          </p:cNvSpPr>
          <p:nvPr/>
        </p:nvSpPr>
        <p:spPr>
          <a:xfrm>
            <a:off x="-250155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to read the previous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36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815547" y="1061537"/>
            <a:ext cx="4274464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Whenever you see the fixation cross </a:t>
            </a:r>
            <a:b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sz="1152" b="1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you can relax and think about whatever you like</a:t>
            </a:r>
            <a:r>
              <a:rPr lang="en-US" sz="1152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. </a:t>
            </a:r>
          </a:p>
          <a:p>
            <a:endParaRPr lang="en-US" sz="1152" b="1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This is your break between the focusing tasks, so maybe you want to take a deep breath so you’re ready when it starts again. </a:t>
            </a:r>
          </a:p>
          <a:p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Please also </a:t>
            </a:r>
            <a:r>
              <a:rPr lang="en-US" sz="1152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try not to take the eyes of the fixation cross</a:t>
            </a:r>
            <a:r>
              <a:rPr lang="en-US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.</a:t>
            </a: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A10EEF2-6199-8578-ADA4-36F9DC0FFCBF}"/>
              </a:ext>
            </a:extLst>
          </p:cNvPr>
          <p:cNvSpPr txBox="1">
            <a:spLocks/>
          </p:cNvSpPr>
          <p:nvPr/>
        </p:nvSpPr>
        <p:spPr>
          <a:xfrm>
            <a:off x="4152513" y="3046696"/>
            <a:ext cx="1587888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to read the next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E2D67F-1894-9518-4F22-36624B24C446}"/>
              </a:ext>
            </a:extLst>
          </p:cNvPr>
          <p:cNvSpPr txBox="1">
            <a:spLocks/>
          </p:cNvSpPr>
          <p:nvPr/>
        </p:nvSpPr>
        <p:spPr>
          <a:xfrm>
            <a:off x="-250155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to read the previous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D5FB5-E5C6-6E11-B185-09CEAAA1D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528" y="250560"/>
            <a:ext cx="6953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8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670" y="282773"/>
            <a:ext cx="5308080" cy="90176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Further:</a:t>
            </a:r>
            <a:b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We are interested to test your experience and your associations </a:t>
            </a:r>
            <a:b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while you focus on your heart or the sound on your headphones.</a:t>
            </a: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We will therefore ask you a question after every attention </a:t>
            </a:r>
            <a:r>
              <a:rPr lang="en-US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block about </a:t>
            </a:r>
            <a:br>
              <a:rPr lang="en-US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i="1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what you have heard, what </a:t>
            </a:r>
            <a:r>
              <a:rPr lang="en-US" i="1" dirty="0" err="1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youre</a:t>
            </a:r>
            <a:r>
              <a:rPr lang="en-US" i="1" dirty="0" smtClean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associations were with it etc.</a:t>
            </a:r>
            <a:endParaRPr lang="en-US" i="1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These questions always relate to the last block you just experienced (either heart or sound</a:t>
            </a:r>
            <a:r>
              <a:rPr lang="en-US" u="sng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). Please answer quickly </a:t>
            </a:r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and “out of your belly” – without thinking too much or too long about it.</a:t>
            </a: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  <a:p>
            <a:r>
              <a:rPr lang="en-US" i="1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It is therefore very important that you try hard to focus your attention </a:t>
            </a:r>
            <a:br>
              <a:rPr lang="en-US" i="1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i="1" u="sng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during each block </a:t>
            </a:r>
            <a:r>
              <a:rPr lang="en-US" i="1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for the </a:t>
            </a:r>
            <a:r>
              <a:rPr lang="en-US" i="1" u="sng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entire duration </a:t>
            </a:r>
            <a:r>
              <a:rPr lang="en-US" i="1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of the block. </a:t>
            </a: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7401715-7846-3A89-77FA-EFB348456009}"/>
              </a:ext>
            </a:extLst>
          </p:cNvPr>
          <p:cNvSpPr txBox="1">
            <a:spLocks/>
          </p:cNvSpPr>
          <p:nvPr/>
        </p:nvSpPr>
        <p:spPr>
          <a:xfrm>
            <a:off x="4152513" y="3046696"/>
            <a:ext cx="1587888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to read the next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816450-A575-688A-867B-86E1FCA80413}"/>
              </a:ext>
            </a:extLst>
          </p:cNvPr>
          <p:cNvSpPr txBox="1">
            <a:spLocks/>
          </p:cNvSpPr>
          <p:nvPr/>
        </p:nvSpPr>
        <p:spPr>
          <a:xfrm>
            <a:off x="-250155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to read the previous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01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" y="389748"/>
            <a:ext cx="5850467" cy="57937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Every question can be answered on a </a:t>
            </a:r>
            <a:r>
              <a:rPr lang="en-US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scale from 1 (not at all) to 10 (very much). </a:t>
            </a:r>
          </a:p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You indicate your response by choosing the appropriate number for you.</a:t>
            </a:r>
          </a:p>
          <a:p>
            <a:r>
              <a:rPr lang="de-CH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For</a:t>
            </a:r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example</a:t>
            </a:r>
            <a:r>
              <a:rPr lang="de-CH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:										</a:t>
            </a:r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23" y="2029765"/>
            <a:ext cx="5850467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In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these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questions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,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please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use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the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arrow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key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left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(</a:t>
            </a:r>
            <a:r>
              <a:rPr lang="de-CH" sz="1152" dirty="0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←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)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or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right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(</a:t>
            </a:r>
            <a:r>
              <a:rPr lang="de-CH" sz="1152" dirty="0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→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)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to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move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b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</a:b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the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cursor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to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the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number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that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seems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appropriate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to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you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.</a:t>
            </a:r>
          </a:p>
          <a:p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Use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the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down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arrow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key</a:t>
            </a:r>
            <a:r>
              <a:rPr lang="de-CH" sz="1152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 (</a:t>
            </a:r>
            <a:r>
              <a:rPr lang="de-CH" sz="1152" dirty="0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↓) </a:t>
            </a:r>
            <a:r>
              <a:rPr lang="de-CH" sz="1152" dirty="0" err="1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de-CH" sz="1152" dirty="0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validate</a:t>
            </a:r>
            <a:r>
              <a:rPr lang="de-CH" sz="1152" dirty="0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the</a:t>
            </a:r>
            <a:r>
              <a:rPr lang="de-CH" sz="1152" dirty="0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de-CH" sz="1152" dirty="0" err="1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response</a:t>
            </a:r>
            <a:r>
              <a:rPr lang="de-CH" sz="1152" dirty="0">
                <a:solidFill>
                  <a:schemeClr val="bg1"/>
                </a:solidFill>
                <a:latin typeface="Arial" panose="020B0604020202020204" pitchFamily="34" charset="0"/>
                <a:ea typeface="D-DIN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1152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38608F-D042-3436-1D01-F031046A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83" y="1114501"/>
            <a:ext cx="5171546" cy="83300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D0F9BD32-AB94-D0BC-D04F-6C907DFC6CBE}"/>
              </a:ext>
            </a:extLst>
          </p:cNvPr>
          <p:cNvSpPr txBox="1">
            <a:spLocks/>
          </p:cNvSpPr>
          <p:nvPr/>
        </p:nvSpPr>
        <p:spPr>
          <a:xfrm>
            <a:off x="4152513" y="3046696"/>
            <a:ext cx="1587888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for the next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0B9D460-E6E9-7D17-7C79-54C66AA31ACC}"/>
              </a:ext>
            </a:extLst>
          </p:cNvPr>
          <p:cNvSpPr txBox="1">
            <a:spLocks/>
          </p:cNvSpPr>
          <p:nvPr/>
        </p:nvSpPr>
        <p:spPr>
          <a:xfrm>
            <a:off x="-250155" y="3046696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←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for the previous page</a:t>
            </a:r>
          </a:p>
          <a:p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42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600" y="1138365"/>
            <a:ext cx="5308080" cy="57937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Everything clear? Any questions ?</a:t>
            </a: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We now set the volume and do one example each</a:t>
            </a:r>
            <a:b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and after that we would start.</a:t>
            </a: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902179" y="3086520"/>
            <a:ext cx="2949610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D2D6606-5945-2037-5CE2-7C366AFF1EF2}"/>
              </a:ext>
            </a:extLst>
          </p:cNvPr>
          <p:cNvSpPr txBox="1">
            <a:spLocks/>
          </p:cNvSpPr>
          <p:nvPr/>
        </p:nvSpPr>
        <p:spPr>
          <a:xfrm>
            <a:off x="4522124" y="3086520"/>
            <a:ext cx="1329665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‘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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’ to start the example</a:t>
            </a:r>
            <a:endParaRPr lang="en-US" sz="768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50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139" y="450506"/>
            <a:ext cx="5308080" cy="579375"/>
          </a:xfrm>
        </p:spPr>
        <p:txBody>
          <a:bodyPr>
            <a:noAutofit/>
          </a:bodyPr>
          <a:lstStyle/>
          <a:p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And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please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remember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/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(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because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of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the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EEG):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pic>
        <p:nvPicPr>
          <p:cNvPr id="1028" name="Picture 4" descr="23.000+ Grafiken, lizenzfreie Vektorgrafiken und Clipart zu Blinzeln -  iStock | Geblendet, Augen zu, Augen zuhalten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9" r="21940"/>
          <a:stretch/>
        </p:blipFill>
        <p:spPr bwMode="auto">
          <a:xfrm>
            <a:off x="1392694" y="1091512"/>
            <a:ext cx="568413" cy="105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nce, people, Silhouette, dancer, Fun, motion, Movement icon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290" y="973419"/>
            <a:ext cx="1287207" cy="128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384062" y="2392909"/>
            <a:ext cx="2585678" cy="579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Move eyes or blink </a:t>
            </a:r>
            <a:b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as little as possible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164336" y="2392909"/>
            <a:ext cx="1701113" cy="579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Move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as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little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as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possible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3C4FF79-3F7E-C2AE-76CF-B008BFCF8E91}"/>
              </a:ext>
            </a:extLst>
          </p:cNvPr>
          <p:cNvSpPr txBox="1">
            <a:spLocks/>
          </p:cNvSpPr>
          <p:nvPr/>
        </p:nvSpPr>
        <p:spPr>
          <a:xfrm>
            <a:off x="4658497" y="3104567"/>
            <a:ext cx="1194616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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’ to start</a:t>
            </a:r>
          </a:p>
        </p:txBody>
      </p:sp>
    </p:spTree>
    <p:extLst>
      <p:ext uri="{BB962C8B-B14F-4D97-AF65-F5344CB8AC3E}">
        <p14:creationId xmlns:p14="http://schemas.microsoft.com/office/powerpoint/2010/main" val="191557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552</Words>
  <Application>Microsoft Office PowerPoint</Application>
  <PresentationFormat>Benutzerdefiniert</PresentationFormat>
  <Paragraphs>49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D-DIN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Frederike Petzschner</dc:creator>
  <cp:lastModifiedBy>Stoffel, Natascha</cp:lastModifiedBy>
  <cp:revision>59</cp:revision>
  <dcterms:created xsi:type="dcterms:W3CDTF">2016-06-23T20:32:13Z</dcterms:created>
  <dcterms:modified xsi:type="dcterms:W3CDTF">2023-08-29T07:40:55Z</dcterms:modified>
</cp:coreProperties>
</file>