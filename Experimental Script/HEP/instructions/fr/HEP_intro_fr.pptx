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59" r:id="rId3"/>
    <p:sldId id="261" r:id="rId4"/>
    <p:sldId id="262" r:id="rId5"/>
    <p:sldId id="260" r:id="rId6"/>
    <p:sldId id="263" r:id="rId7"/>
    <p:sldId id="264" r:id="rId8"/>
    <p:sldId id="266" r:id="rId9"/>
  </p:sldIdLst>
  <p:sldSz cx="5853113" cy="32908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73" userDrawn="1">
          <p15:clr>
            <a:srgbClr val="A4A3A4"/>
          </p15:clr>
        </p15:guide>
        <p15:guide id="2" pos="36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A4C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04"/>
    <p:restoredTop sz="94677"/>
  </p:normalViewPr>
  <p:slideViewPr>
    <p:cSldViewPr snapToGrid="0" snapToObjects="1">
      <p:cViewPr varScale="1">
        <p:scale>
          <a:sx n="232" d="100"/>
          <a:sy n="232" d="100"/>
        </p:scale>
        <p:origin x="822" y="186"/>
      </p:cViewPr>
      <p:guideLst>
        <p:guide orient="horz" pos="2073"/>
        <p:guide pos="368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639" y="538578"/>
            <a:ext cx="4389835" cy="1145717"/>
          </a:xfrm>
        </p:spPr>
        <p:txBody>
          <a:bodyPr anchor="b"/>
          <a:lstStyle>
            <a:lvl1pPr algn="ctr">
              <a:defRPr sz="28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639" y="1728478"/>
            <a:ext cx="4389835" cy="794536"/>
          </a:xfrm>
        </p:spPr>
        <p:txBody>
          <a:bodyPr/>
          <a:lstStyle>
            <a:lvl1pPr marL="0" indent="0" algn="ctr">
              <a:buNone/>
              <a:defRPr sz="1152"/>
            </a:lvl1pPr>
            <a:lvl2pPr marL="219410" indent="0" algn="ctr">
              <a:buNone/>
              <a:defRPr sz="960"/>
            </a:lvl2pPr>
            <a:lvl3pPr marL="438821" indent="0" algn="ctr">
              <a:buNone/>
              <a:defRPr sz="864"/>
            </a:lvl3pPr>
            <a:lvl4pPr marL="658231" indent="0" algn="ctr">
              <a:buNone/>
              <a:defRPr sz="768"/>
            </a:lvl4pPr>
            <a:lvl5pPr marL="877641" indent="0" algn="ctr">
              <a:buNone/>
              <a:defRPr sz="768"/>
            </a:lvl5pPr>
            <a:lvl6pPr marL="1097051" indent="0" algn="ctr">
              <a:buNone/>
              <a:defRPr sz="768"/>
            </a:lvl6pPr>
            <a:lvl7pPr marL="1316462" indent="0" algn="ctr">
              <a:buNone/>
              <a:defRPr sz="768"/>
            </a:lvl7pPr>
            <a:lvl8pPr marL="1535872" indent="0" algn="ctr">
              <a:buNone/>
              <a:defRPr sz="768"/>
            </a:lvl8pPr>
            <a:lvl9pPr marL="1755282" indent="0" algn="ctr">
              <a:buNone/>
              <a:defRPr sz="76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177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684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353" y="820437"/>
            <a:ext cx="5048310" cy="1368918"/>
          </a:xfrm>
        </p:spPr>
        <p:txBody>
          <a:bodyPr anchor="b"/>
          <a:lstStyle>
            <a:lvl1pPr>
              <a:defRPr sz="28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9353" y="2202305"/>
            <a:ext cx="5048310" cy="719882"/>
          </a:xfrm>
        </p:spPr>
        <p:txBody>
          <a:bodyPr/>
          <a:lstStyle>
            <a:lvl1pPr marL="0" indent="0">
              <a:buNone/>
              <a:defRPr sz="1152">
                <a:solidFill>
                  <a:schemeClr val="tx1">
                    <a:tint val="75000"/>
                  </a:schemeClr>
                </a:solidFill>
              </a:defRPr>
            </a:lvl1pPr>
            <a:lvl2pPr marL="21941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2pPr>
            <a:lvl3pPr marL="438821" indent="0">
              <a:buNone/>
              <a:defRPr sz="864">
                <a:solidFill>
                  <a:schemeClr val="tx1">
                    <a:tint val="75000"/>
                  </a:schemeClr>
                </a:solidFill>
              </a:defRPr>
            </a:lvl3pPr>
            <a:lvl4pPr marL="658231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4pPr>
            <a:lvl5pPr marL="877641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5pPr>
            <a:lvl6pPr marL="1097051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6pPr>
            <a:lvl7pPr marL="1316462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7pPr>
            <a:lvl8pPr marL="1535872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8pPr>
            <a:lvl9pPr marL="1755282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208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2402" y="876047"/>
            <a:ext cx="2487573" cy="208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63138" y="876047"/>
            <a:ext cx="2487573" cy="208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59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164" y="175210"/>
            <a:ext cx="5048310" cy="63608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164" y="806725"/>
            <a:ext cx="2476141" cy="395363"/>
          </a:xfrm>
        </p:spPr>
        <p:txBody>
          <a:bodyPr anchor="b"/>
          <a:lstStyle>
            <a:lvl1pPr marL="0" indent="0">
              <a:buNone/>
              <a:defRPr sz="1152" b="1"/>
            </a:lvl1pPr>
            <a:lvl2pPr marL="219410" indent="0">
              <a:buNone/>
              <a:defRPr sz="960" b="1"/>
            </a:lvl2pPr>
            <a:lvl3pPr marL="438821" indent="0">
              <a:buNone/>
              <a:defRPr sz="864" b="1"/>
            </a:lvl3pPr>
            <a:lvl4pPr marL="658231" indent="0">
              <a:buNone/>
              <a:defRPr sz="768" b="1"/>
            </a:lvl4pPr>
            <a:lvl5pPr marL="877641" indent="0">
              <a:buNone/>
              <a:defRPr sz="768" b="1"/>
            </a:lvl5pPr>
            <a:lvl6pPr marL="1097051" indent="0">
              <a:buNone/>
              <a:defRPr sz="768" b="1"/>
            </a:lvl6pPr>
            <a:lvl7pPr marL="1316462" indent="0">
              <a:buNone/>
              <a:defRPr sz="768" b="1"/>
            </a:lvl7pPr>
            <a:lvl8pPr marL="1535872" indent="0">
              <a:buNone/>
              <a:defRPr sz="768" b="1"/>
            </a:lvl8pPr>
            <a:lvl9pPr marL="1755282" indent="0">
              <a:buNone/>
              <a:defRPr sz="7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164" y="1202088"/>
            <a:ext cx="2476141" cy="17680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63139" y="806725"/>
            <a:ext cx="2488335" cy="395363"/>
          </a:xfrm>
        </p:spPr>
        <p:txBody>
          <a:bodyPr anchor="b"/>
          <a:lstStyle>
            <a:lvl1pPr marL="0" indent="0">
              <a:buNone/>
              <a:defRPr sz="1152" b="1"/>
            </a:lvl1pPr>
            <a:lvl2pPr marL="219410" indent="0">
              <a:buNone/>
              <a:defRPr sz="960" b="1"/>
            </a:lvl2pPr>
            <a:lvl3pPr marL="438821" indent="0">
              <a:buNone/>
              <a:defRPr sz="864" b="1"/>
            </a:lvl3pPr>
            <a:lvl4pPr marL="658231" indent="0">
              <a:buNone/>
              <a:defRPr sz="768" b="1"/>
            </a:lvl4pPr>
            <a:lvl5pPr marL="877641" indent="0">
              <a:buNone/>
              <a:defRPr sz="768" b="1"/>
            </a:lvl5pPr>
            <a:lvl6pPr marL="1097051" indent="0">
              <a:buNone/>
              <a:defRPr sz="768" b="1"/>
            </a:lvl6pPr>
            <a:lvl7pPr marL="1316462" indent="0">
              <a:buNone/>
              <a:defRPr sz="768" b="1"/>
            </a:lvl7pPr>
            <a:lvl8pPr marL="1535872" indent="0">
              <a:buNone/>
              <a:defRPr sz="768" b="1"/>
            </a:lvl8pPr>
            <a:lvl9pPr marL="1755282" indent="0">
              <a:buNone/>
              <a:defRPr sz="7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963139" y="1202088"/>
            <a:ext cx="2488335" cy="17680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908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452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470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164" y="219392"/>
            <a:ext cx="1887781" cy="767874"/>
          </a:xfrm>
        </p:spPr>
        <p:txBody>
          <a:bodyPr anchor="b"/>
          <a:lstStyle>
            <a:lvl1pPr>
              <a:defRPr sz="153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88336" y="473827"/>
            <a:ext cx="2963138" cy="2338663"/>
          </a:xfrm>
        </p:spPr>
        <p:txBody>
          <a:bodyPr/>
          <a:lstStyle>
            <a:lvl1pPr>
              <a:defRPr sz="1536"/>
            </a:lvl1pPr>
            <a:lvl2pPr>
              <a:defRPr sz="1344"/>
            </a:lvl2pPr>
            <a:lvl3pPr>
              <a:defRPr sz="1152"/>
            </a:lvl3pPr>
            <a:lvl4pPr>
              <a:defRPr sz="960"/>
            </a:lvl4pPr>
            <a:lvl5pPr>
              <a:defRPr sz="960"/>
            </a:lvl5pPr>
            <a:lvl6pPr>
              <a:defRPr sz="960"/>
            </a:lvl6pPr>
            <a:lvl7pPr>
              <a:defRPr sz="960"/>
            </a:lvl7pPr>
            <a:lvl8pPr>
              <a:defRPr sz="960"/>
            </a:lvl8pPr>
            <a:lvl9pPr>
              <a:defRPr sz="9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3164" y="987266"/>
            <a:ext cx="1887781" cy="1829033"/>
          </a:xfrm>
        </p:spPr>
        <p:txBody>
          <a:bodyPr/>
          <a:lstStyle>
            <a:lvl1pPr marL="0" indent="0">
              <a:buNone/>
              <a:defRPr sz="768"/>
            </a:lvl1pPr>
            <a:lvl2pPr marL="219410" indent="0">
              <a:buNone/>
              <a:defRPr sz="672"/>
            </a:lvl2pPr>
            <a:lvl3pPr marL="438821" indent="0">
              <a:buNone/>
              <a:defRPr sz="576"/>
            </a:lvl3pPr>
            <a:lvl4pPr marL="658231" indent="0">
              <a:buNone/>
              <a:defRPr sz="480"/>
            </a:lvl4pPr>
            <a:lvl5pPr marL="877641" indent="0">
              <a:buNone/>
              <a:defRPr sz="480"/>
            </a:lvl5pPr>
            <a:lvl6pPr marL="1097051" indent="0">
              <a:buNone/>
              <a:defRPr sz="480"/>
            </a:lvl6pPr>
            <a:lvl7pPr marL="1316462" indent="0">
              <a:buNone/>
              <a:defRPr sz="480"/>
            </a:lvl7pPr>
            <a:lvl8pPr marL="1535872" indent="0">
              <a:buNone/>
              <a:defRPr sz="480"/>
            </a:lvl8pPr>
            <a:lvl9pPr marL="1755282" indent="0">
              <a:buNone/>
              <a:defRPr sz="4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785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164" y="219392"/>
            <a:ext cx="1887781" cy="767874"/>
          </a:xfrm>
        </p:spPr>
        <p:txBody>
          <a:bodyPr anchor="b"/>
          <a:lstStyle>
            <a:lvl1pPr>
              <a:defRPr sz="153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488336" y="473827"/>
            <a:ext cx="2963138" cy="2338663"/>
          </a:xfrm>
        </p:spPr>
        <p:txBody>
          <a:bodyPr anchor="t"/>
          <a:lstStyle>
            <a:lvl1pPr marL="0" indent="0">
              <a:buNone/>
              <a:defRPr sz="1536"/>
            </a:lvl1pPr>
            <a:lvl2pPr marL="219410" indent="0">
              <a:buNone/>
              <a:defRPr sz="1344"/>
            </a:lvl2pPr>
            <a:lvl3pPr marL="438821" indent="0">
              <a:buNone/>
              <a:defRPr sz="1152"/>
            </a:lvl3pPr>
            <a:lvl4pPr marL="658231" indent="0">
              <a:buNone/>
              <a:defRPr sz="960"/>
            </a:lvl4pPr>
            <a:lvl5pPr marL="877641" indent="0">
              <a:buNone/>
              <a:defRPr sz="960"/>
            </a:lvl5pPr>
            <a:lvl6pPr marL="1097051" indent="0">
              <a:buNone/>
              <a:defRPr sz="960"/>
            </a:lvl6pPr>
            <a:lvl7pPr marL="1316462" indent="0">
              <a:buNone/>
              <a:defRPr sz="960"/>
            </a:lvl7pPr>
            <a:lvl8pPr marL="1535872" indent="0">
              <a:buNone/>
              <a:defRPr sz="960"/>
            </a:lvl8pPr>
            <a:lvl9pPr marL="1755282" indent="0">
              <a:buNone/>
              <a:defRPr sz="9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3164" y="987266"/>
            <a:ext cx="1887781" cy="1829033"/>
          </a:xfrm>
        </p:spPr>
        <p:txBody>
          <a:bodyPr/>
          <a:lstStyle>
            <a:lvl1pPr marL="0" indent="0">
              <a:buNone/>
              <a:defRPr sz="768"/>
            </a:lvl1pPr>
            <a:lvl2pPr marL="219410" indent="0">
              <a:buNone/>
              <a:defRPr sz="672"/>
            </a:lvl2pPr>
            <a:lvl3pPr marL="438821" indent="0">
              <a:buNone/>
              <a:defRPr sz="576"/>
            </a:lvl3pPr>
            <a:lvl4pPr marL="658231" indent="0">
              <a:buNone/>
              <a:defRPr sz="480"/>
            </a:lvl4pPr>
            <a:lvl5pPr marL="877641" indent="0">
              <a:buNone/>
              <a:defRPr sz="480"/>
            </a:lvl5pPr>
            <a:lvl6pPr marL="1097051" indent="0">
              <a:buNone/>
              <a:defRPr sz="480"/>
            </a:lvl6pPr>
            <a:lvl7pPr marL="1316462" indent="0">
              <a:buNone/>
              <a:defRPr sz="480"/>
            </a:lvl7pPr>
            <a:lvl8pPr marL="1535872" indent="0">
              <a:buNone/>
              <a:defRPr sz="480"/>
            </a:lvl8pPr>
            <a:lvl9pPr marL="1755282" indent="0">
              <a:buNone/>
              <a:defRPr sz="4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800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136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188634" y="175210"/>
            <a:ext cx="1262077" cy="27888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2401" y="175210"/>
            <a:ext cx="3713069" cy="2788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709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2402" y="175210"/>
            <a:ext cx="5048310" cy="6360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2402" y="876047"/>
            <a:ext cx="5048310" cy="20880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2402" y="3050166"/>
            <a:ext cx="1316950" cy="175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9D6E4E-9A4C-584C-B041-ED1EA68C6A4F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8844" y="3050166"/>
            <a:ext cx="1975426" cy="175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33761" y="3050166"/>
            <a:ext cx="1316950" cy="175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27DD6F-C93A-6745-AFE0-E5CD39CD12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68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38821" rtl="0" eaLnBrk="1" latinLnBrk="0" hangingPunct="1">
        <a:lnSpc>
          <a:spcPct val="90000"/>
        </a:lnSpc>
        <a:spcBef>
          <a:spcPct val="0"/>
        </a:spcBef>
        <a:buNone/>
        <a:defRPr sz="21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05" indent="-109705" algn="l" defTabSz="438821" rtl="0" eaLnBrk="1" latinLnBrk="0" hangingPunct="1">
        <a:lnSpc>
          <a:spcPct val="90000"/>
        </a:lnSpc>
        <a:spcBef>
          <a:spcPts val="480"/>
        </a:spcBef>
        <a:buFont typeface="Arial" panose="020B0604020202020204" pitchFamily="34" charset="0"/>
        <a:buChar char="•"/>
        <a:defRPr sz="1344" kern="1200">
          <a:solidFill>
            <a:schemeClr val="tx1"/>
          </a:solidFill>
          <a:latin typeface="+mn-lt"/>
          <a:ea typeface="+mn-ea"/>
          <a:cs typeface="+mn-cs"/>
        </a:defRPr>
      </a:lvl1pPr>
      <a:lvl2pPr marL="329115" indent="-109705" algn="l" defTabSz="438821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1152" kern="1200">
          <a:solidFill>
            <a:schemeClr val="tx1"/>
          </a:solidFill>
          <a:latin typeface="+mn-lt"/>
          <a:ea typeface="+mn-ea"/>
          <a:cs typeface="+mn-cs"/>
        </a:defRPr>
      </a:lvl2pPr>
      <a:lvl3pPr marL="548526" indent="-109705" algn="l" defTabSz="438821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3pPr>
      <a:lvl4pPr marL="767936" indent="-109705" algn="l" defTabSz="438821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4pPr>
      <a:lvl5pPr marL="987346" indent="-109705" algn="l" defTabSz="438821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5pPr>
      <a:lvl6pPr marL="1206757" indent="-109705" algn="l" defTabSz="438821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6pPr>
      <a:lvl7pPr marL="1426167" indent="-109705" algn="l" defTabSz="438821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7pPr>
      <a:lvl8pPr marL="1645577" indent="-109705" algn="l" defTabSz="438821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8pPr>
      <a:lvl9pPr marL="1864987" indent="-109705" algn="l" defTabSz="438821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821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1pPr>
      <a:lvl2pPr marL="219410" algn="l" defTabSz="438821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2pPr>
      <a:lvl3pPr marL="438821" algn="l" defTabSz="438821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3pPr>
      <a:lvl4pPr marL="658231" algn="l" defTabSz="438821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4pPr>
      <a:lvl5pPr marL="877641" algn="l" defTabSz="438821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5pPr>
      <a:lvl6pPr marL="1097051" algn="l" defTabSz="438821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6pPr>
      <a:lvl7pPr marL="1316462" algn="l" defTabSz="438821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7pPr>
      <a:lvl8pPr marL="1535872" algn="l" defTabSz="438821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8pPr>
      <a:lvl9pPr marL="1755282" algn="l" defTabSz="438821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3" y="998773"/>
            <a:ext cx="5850467" cy="579375"/>
          </a:xfrm>
        </p:spPr>
        <p:txBody>
          <a:bodyPr>
            <a:noAutofit/>
          </a:bodyPr>
          <a:lstStyle/>
          <a:p>
            <a:r>
              <a:rPr lang="fr-CH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Au cours de l'expérience suivante, vous verrez l'un des deux symboles suivants pendant des blocs 20 secondes:</a:t>
            </a:r>
          </a:p>
          <a:p>
            <a:endParaRPr lang="fr-CH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r>
              <a:rPr lang="fr-CH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Un cœur ou des écouteurs</a:t>
            </a:r>
          </a:p>
          <a:p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  <p:pic>
        <p:nvPicPr>
          <p:cNvPr id="5" name="Bild 2" descr="Macintosh HD:Users:fpetzschner:task:hbattTask:images:heart_img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4392" y="1894811"/>
            <a:ext cx="296014" cy="437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Bild 4" descr="Macintosh HD:Users:fpetzschner:task:hbattTask:images:sound_img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2719" y="1936500"/>
            <a:ext cx="479357" cy="39583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Subtitle 2"/>
          <p:cNvSpPr txBox="1">
            <a:spLocks/>
          </p:cNvSpPr>
          <p:nvPr/>
        </p:nvSpPr>
        <p:spPr>
          <a:xfrm>
            <a:off x="1323" y="467851"/>
            <a:ext cx="5850467" cy="579375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rgbClr val="CA4C40"/>
                </a:solidFill>
                <a:latin typeface="D-DIN" charset="0"/>
                <a:ea typeface="D-DIN" charset="0"/>
                <a:cs typeface="D-DIN" charset="0"/>
              </a:rPr>
              <a:t>“</a:t>
            </a:r>
            <a:r>
              <a:rPr lang="en-US" sz="2400" b="1" dirty="0" err="1">
                <a:solidFill>
                  <a:srgbClr val="CA4C40"/>
                </a:solidFill>
                <a:latin typeface="D-DIN" charset="0"/>
                <a:ea typeface="D-DIN" charset="0"/>
                <a:cs typeface="D-DIN" charset="0"/>
              </a:rPr>
              <a:t>Concentrez</a:t>
            </a:r>
            <a:r>
              <a:rPr lang="en-US" sz="2400" b="1" dirty="0">
                <a:solidFill>
                  <a:srgbClr val="CA4C40"/>
                </a:solidFill>
                <a:latin typeface="D-DIN" charset="0"/>
                <a:ea typeface="D-DIN" charset="0"/>
                <a:cs typeface="D-DIN" charset="0"/>
              </a:rPr>
              <a:t> </a:t>
            </a:r>
            <a:r>
              <a:rPr lang="en-US" sz="2400" b="1" dirty="0" err="1">
                <a:solidFill>
                  <a:srgbClr val="CA4C40"/>
                </a:solidFill>
                <a:latin typeface="D-DIN" charset="0"/>
                <a:ea typeface="D-DIN" charset="0"/>
                <a:cs typeface="D-DIN" charset="0"/>
              </a:rPr>
              <a:t>votre</a:t>
            </a:r>
            <a:r>
              <a:rPr lang="en-US" sz="2400" b="1" dirty="0">
                <a:solidFill>
                  <a:srgbClr val="CA4C40"/>
                </a:solidFill>
                <a:latin typeface="D-DIN" charset="0"/>
                <a:ea typeface="D-DIN" charset="0"/>
                <a:cs typeface="D-DIN" charset="0"/>
              </a:rPr>
              <a:t> attention”</a:t>
            </a:r>
          </a:p>
        </p:txBody>
      </p:sp>
      <p:sp>
        <p:nvSpPr>
          <p:cNvPr id="11" name="Subtitle 2"/>
          <p:cNvSpPr txBox="1">
            <a:spLocks/>
          </p:cNvSpPr>
          <p:nvPr/>
        </p:nvSpPr>
        <p:spPr>
          <a:xfrm>
            <a:off x="3663958" y="3086520"/>
            <a:ext cx="2187831" cy="204368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‘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</a:t>
            </a:r>
            <a:r>
              <a:rPr lang="fr-CH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’ pour lire la page suivante</a:t>
            </a:r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695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 2" descr="Macintosh HD:Users:fpetzschner:task:hbattTask:images:heart_img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0598" y="207205"/>
            <a:ext cx="546460" cy="75469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Subtitle 2"/>
          <p:cNvSpPr txBox="1">
            <a:spLocks/>
          </p:cNvSpPr>
          <p:nvPr/>
        </p:nvSpPr>
        <p:spPr>
          <a:xfrm>
            <a:off x="216131" y="1166876"/>
            <a:ext cx="5428211" cy="579375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sz="1344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Chaque fois que le symbole du cœur est affiché, </a:t>
            </a:r>
            <a:br>
              <a:rPr lang="fr-CH" sz="1344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</a:br>
            <a:r>
              <a:rPr lang="fr-CH" sz="1344" b="1" u="sng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concentrez-vous sur les battements de votre cœur </a:t>
            </a:r>
            <a:br>
              <a:rPr lang="fr-CH" sz="1344" b="1" u="sng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</a:br>
            <a:r>
              <a:rPr lang="fr-CH" sz="1344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pendant toute la durée de l'image à l'écran </a:t>
            </a:r>
            <a:r>
              <a:rPr lang="fr-CH" sz="1344" dirty="0" smtClean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!</a:t>
            </a:r>
            <a:r>
              <a:rPr lang="en-US" sz="960" i="1" dirty="0" smtClean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</a:t>
            </a:r>
            <a:endParaRPr lang="en-US" sz="960" i="1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sz="960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580066" y="2121430"/>
            <a:ext cx="4915711" cy="467378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Ne prenez pas votre pouls et ne modifiez pas délibérément votre respiration. </a:t>
            </a:r>
            <a:r>
              <a:rPr lang="fr-CH" sz="1152" u="sng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Restez assis sans bouger et fixez le symbole devant vous.</a:t>
            </a:r>
          </a:p>
        </p:txBody>
      </p:sp>
      <p:sp>
        <p:nvSpPr>
          <p:cNvPr id="10" name="Subtitle 2"/>
          <p:cNvSpPr txBox="1">
            <a:spLocks/>
          </p:cNvSpPr>
          <p:nvPr/>
        </p:nvSpPr>
        <p:spPr>
          <a:xfrm>
            <a:off x="3965171" y="3046696"/>
            <a:ext cx="1775230" cy="204368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‘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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’ pour </a:t>
            </a:r>
            <a:r>
              <a:rPr lang="en-US" sz="768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aller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à la page </a:t>
            </a:r>
            <a:r>
              <a:rPr lang="en-US" sz="768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suivante</a:t>
            </a:r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CED52DD-D67B-FCD2-8705-0795FF85C3B9}"/>
              </a:ext>
            </a:extLst>
          </p:cNvPr>
          <p:cNvSpPr txBox="1">
            <a:spLocks/>
          </p:cNvSpPr>
          <p:nvPr/>
        </p:nvSpPr>
        <p:spPr>
          <a:xfrm>
            <a:off x="-38180" y="3046696"/>
            <a:ext cx="2187831" cy="204368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‘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←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’ pour </a:t>
            </a:r>
            <a:r>
              <a:rPr lang="en-US" sz="768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retourner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à la page </a:t>
            </a:r>
            <a:r>
              <a:rPr lang="en-US" sz="768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précédante</a:t>
            </a:r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9124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/>
          <p:cNvSpPr txBox="1">
            <a:spLocks/>
          </p:cNvSpPr>
          <p:nvPr/>
        </p:nvSpPr>
        <p:spPr>
          <a:xfrm>
            <a:off x="376224" y="1227818"/>
            <a:ext cx="5119553" cy="579375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Chaque fois que les écouteurs sont montrés, </a:t>
            </a:r>
            <a:br>
              <a:rPr lang="fr-CH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</a:br>
            <a:r>
              <a:rPr lang="fr-CH" sz="1152" b="1" u="sng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concentrez-vous sur le bruit sonore dans vos écouteurs, </a:t>
            </a:r>
            <a:br>
              <a:rPr lang="fr-CH" sz="1152" b="1" u="sng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</a:br>
            <a:r>
              <a:rPr lang="fr-CH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pendant toute la durée d'affichage de l'image à l'écran !</a:t>
            </a:r>
          </a:p>
          <a:p>
            <a:endParaRPr lang="fr-CH" sz="960" i="1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sz="1152" i="1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sz="1152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  <p:pic>
        <p:nvPicPr>
          <p:cNvPr id="8" name="Bild 4" descr="Macintosh HD:Users:fpetzschner:task:hbattTask:images:sound_img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6533" y="268560"/>
            <a:ext cx="977081" cy="80075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ubtitle 2"/>
          <p:cNvSpPr txBox="1">
            <a:spLocks/>
          </p:cNvSpPr>
          <p:nvPr/>
        </p:nvSpPr>
        <p:spPr>
          <a:xfrm>
            <a:off x="580066" y="1965700"/>
            <a:ext cx="4915711" cy="467378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52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r>
              <a:rPr lang="fr-CH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Veuillez </a:t>
            </a:r>
            <a:r>
              <a:rPr lang="fr-CH" sz="1152" u="sng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rester assis sans bouger et fixer le symbole devant vous.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1F5748C-8581-B23B-777E-C708E5A01C4A}"/>
              </a:ext>
            </a:extLst>
          </p:cNvPr>
          <p:cNvSpPr txBox="1">
            <a:spLocks/>
          </p:cNvSpPr>
          <p:nvPr/>
        </p:nvSpPr>
        <p:spPr>
          <a:xfrm>
            <a:off x="3965171" y="3046696"/>
            <a:ext cx="1775230" cy="204368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‘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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’ pour </a:t>
            </a:r>
            <a:r>
              <a:rPr lang="en-US" sz="768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aller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à la page </a:t>
            </a:r>
            <a:r>
              <a:rPr lang="en-US" sz="768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suivante</a:t>
            </a:r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7C918FD-5A4A-617F-A3EA-4E129104B885}"/>
              </a:ext>
            </a:extLst>
          </p:cNvPr>
          <p:cNvSpPr txBox="1">
            <a:spLocks/>
          </p:cNvSpPr>
          <p:nvPr/>
        </p:nvSpPr>
        <p:spPr>
          <a:xfrm>
            <a:off x="-38180" y="3046696"/>
            <a:ext cx="2187831" cy="204368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‘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←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’ pour </a:t>
            </a:r>
            <a:r>
              <a:rPr lang="en-US" sz="768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retourner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à la page </a:t>
            </a:r>
            <a:r>
              <a:rPr lang="en-US" sz="768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précédante</a:t>
            </a:r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361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/>
          <p:cNvSpPr txBox="1">
            <a:spLocks/>
          </p:cNvSpPr>
          <p:nvPr/>
        </p:nvSpPr>
        <p:spPr>
          <a:xfrm>
            <a:off x="387179" y="1061537"/>
            <a:ext cx="4702832" cy="579375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Lorsque vous voyez la croix de fixation </a:t>
            </a:r>
            <a:br>
              <a:rPr lang="fr-CH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</a:br>
            <a:r>
              <a:rPr lang="fr-CH" sz="1152" b="1" u="sng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vous pouvez vous détendre et penser à ce que vous voulez.</a:t>
            </a:r>
          </a:p>
          <a:p>
            <a:endParaRPr lang="en-US" sz="1152" b="1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r>
              <a:rPr lang="fr-CH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Il s'agit d'une pause entre les tâches de focalisation, vous pouvez donc respirer profondément afin d'être prêt pour la suite.</a:t>
            </a:r>
          </a:p>
          <a:p>
            <a:r>
              <a:rPr lang="fr-CH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Essayez également </a:t>
            </a:r>
            <a:r>
              <a:rPr lang="fr-CH" sz="1152" u="sng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de ne pas perdre des yeux la croix de fixation.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8D5FB5-E5C6-6E11-B185-09CEAAA1D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6528" y="250560"/>
            <a:ext cx="695325" cy="6477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4FE8D5EA-A85D-8729-3F97-55A33053305D}"/>
              </a:ext>
            </a:extLst>
          </p:cNvPr>
          <p:cNvSpPr txBox="1">
            <a:spLocks/>
          </p:cNvSpPr>
          <p:nvPr/>
        </p:nvSpPr>
        <p:spPr>
          <a:xfrm>
            <a:off x="3965171" y="3046696"/>
            <a:ext cx="1775230" cy="204368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‘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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’ pour </a:t>
            </a:r>
            <a:r>
              <a:rPr lang="en-US" sz="768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aller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à la page </a:t>
            </a:r>
            <a:r>
              <a:rPr lang="en-US" sz="768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suivante</a:t>
            </a:r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7D71461-BFA8-FD93-46D8-A7EEA376F2C3}"/>
              </a:ext>
            </a:extLst>
          </p:cNvPr>
          <p:cNvSpPr txBox="1">
            <a:spLocks/>
          </p:cNvSpPr>
          <p:nvPr/>
        </p:nvSpPr>
        <p:spPr>
          <a:xfrm>
            <a:off x="-38180" y="3046696"/>
            <a:ext cx="2187831" cy="204368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‘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←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’ pour </a:t>
            </a:r>
            <a:r>
              <a:rPr lang="en-US" sz="768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retourner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à la page </a:t>
            </a:r>
            <a:r>
              <a:rPr lang="en-US" sz="768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précédante</a:t>
            </a:r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088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670" y="282773"/>
            <a:ext cx="5308080" cy="901760"/>
          </a:xfrm>
        </p:spPr>
        <p:txBody>
          <a:bodyPr>
            <a:noAutofit/>
          </a:bodyPr>
          <a:lstStyle/>
          <a:p>
            <a:r>
              <a:rPr lang="fr-CH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Plus :</a:t>
            </a:r>
          </a:p>
          <a:p>
            <a:r>
              <a:rPr lang="fr-CH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Nous souhaitons tester votre expérience et vos associations lorsque vous vous concentrez sur votre cœur ou sur le son de vos écouteurs.</a:t>
            </a:r>
          </a:p>
          <a:p>
            <a:endParaRPr lang="fr-CH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r>
              <a:rPr lang="fr-CH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Nous vous poserons donc une question après chaque </a:t>
            </a:r>
            <a:r>
              <a:rPr lang="fr-CH" dirty="0" smtClean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bloc,</a:t>
            </a:r>
            <a:br>
              <a:rPr lang="fr-CH" dirty="0" smtClean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</a:br>
            <a:r>
              <a:rPr lang="fr-FR" i="1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sur ce que vous avez entendu, sur vos associations d'idées, </a:t>
            </a:r>
            <a:r>
              <a:rPr lang="fr-FR" i="1" dirty="0" err="1" smtClean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etc</a:t>
            </a:r>
            <a:r>
              <a:rPr lang="fr-CH" i="1" dirty="0" smtClean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.</a:t>
            </a:r>
            <a:endParaRPr lang="fr-CH" i="1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fr-CH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r>
              <a:rPr lang="fr-CH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Ces questions se rapportent toujours au dernier bloc que vous venez d'expérimenter (soit le cœur, soit le bruit</a:t>
            </a:r>
            <a:r>
              <a:rPr lang="fr-CH" u="sng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). Répondez rapidement,</a:t>
            </a:r>
            <a:r>
              <a:rPr lang="fr-CH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sans attendre ni trop réfléchir.</a:t>
            </a:r>
          </a:p>
          <a:p>
            <a:endParaRPr lang="en-US" dirty="0">
              <a:latin typeface="D-DIN" charset="0"/>
              <a:ea typeface="D-DIN" charset="0"/>
              <a:cs typeface="D-DIN" charset="0"/>
            </a:endParaRPr>
          </a:p>
          <a:p>
            <a:r>
              <a:rPr lang="fr-FR" dirty="0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</a:rPr>
              <a:t>Il est donc très important que vous vous efforciez de concentrer votre attention pendant </a:t>
            </a:r>
            <a:r>
              <a:rPr lang="fr-FR" u="sng" dirty="0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</a:rPr>
              <a:t>toute la durée </a:t>
            </a:r>
            <a:r>
              <a:rPr lang="fr-FR" dirty="0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</a:rPr>
              <a:t>de </a:t>
            </a:r>
            <a:r>
              <a:rPr lang="fr-FR" u="sng" dirty="0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</a:rPr>
              <a:t>chaque bloc</a:t>
            </a:r>
            <a:r>
              <a:rPr lang="fr-FR" dirty="0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</a:rPr>
              <a:t>.</a:t>
            </a:r>
            <a:endParaRPr lang="en-US" dirty="0">
              <a:solidFill>
                <a:srgbClr val="FF0000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dirty="0">
              <a:latin typeface="D-DIN" charset="0"/>
              <a:ea typeface="D-DIN" charset="0"/>
              <a:cs typeface="D-DIN" charset="0"/>
            </a:endParaRPr>
          </a:p>
          <a:p>
            <a:endParaRPr lang="en-US" dirty="0">
              <a:latin typeface="D-DIN" charset="0"/>
              <a:ea typeface="D-DIN" charset="0"/>
              <a:cs typeface="D-DIN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16FE316-FA46-6081-F163-DB91C70E7584}"/>
              </a:ext>
            </a:extLst>
          </p:cNvPr>
          <p:cNvSpPr txBox="1">
            <a:spLocks/>
          </p:cNvSpPr>
          <p:nvPr/>
        </p:nvSpPr>
        <p:spPr>
          <a:xfrm>
            <a:off x="3965171" y="3046696"/>
            <a:ext cx="1775230" cy="204368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‘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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’ pour </a:t>
            </a:r>
            <a:r>
              <a:rPr lang="en-US" sz="768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aller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à la page </a:t>
            </a:r>
            <a:r>
              <a:rPr lang="en-US" sz="768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suivante</a:t>
            </a:r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D872B7B-B79A-5E32-10B6-063D7576829C}"/>
              </a:ext>
            </a:extLst>
          </p:cNvPr>
          <p:cNvSpPr txBox="1">
            <a:spLocks/>
          </p:cNvSpPr>
          <p:nvPr/>
        </p:nvSpPr>
        <p:spPr>
          <a:xfrm>
            <a:off x="-38180" y="3046696"/>
            <a:ext cx="2187831" cy="204368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‘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←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’ pour </a:t>
            </a:r>
            <a:r>
              <a:rPr lang="en-US" sz="768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retourner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à la page </a:t>
            </a:r>
            <a:r>
              <a:rPr lang="en-US" sz="768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précédante</a:t>
            </a:r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011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204307"/>
            <a:ext cx="5850467" cy="579375"/>
          </a:xfrm>
        </p:spPr>
        <p:txBody>
          <a:bodyPr>
            <a:noAutofit/>
          </a:bodyPr>
          <a:lstStyle/>
          <a:p>
            <a:r>
              <a:rPr lang="fr-CH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Vous pouvez répondre à chaque question sur une échelle </a:t>
            </a:r>
          </a:p>
          <a:p>
            <a:r>
              <a:rPr lang="fr-CH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de</a:t>
            </a:r>
            <a:r>
              <a:rPr lang="fr-CH" b="1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1 (pas du tout) à 10 (tout à fait). </a:t>
            </a:r>
          </a:p>
          <a:p>
            <a:r>
              <a:rPr lang="fr-CH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Vous indiquez votre réponse en choisissant le chiffre qui vous convient.</a:t>
            </a:r>
          </a:p>
          <a:p>
            <a:r>
              <a:rPr lang="fr-CH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Par exemple :			</a:t>
            </a:r>
            <a:r>
              <a:rPr lang="de-CH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									</a:t>
            </a:r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1323" y="2029765"/>
            <a:ext cx="5850467" cy="579375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Pour répondre à ces questions, veuillez utiliser la touche fléchée gauche (←) </a:t>
            </a:r>
            <a:br>
              <a:rPr lang="fr-CH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</a:br>
            <a:r>
              <a:rPr lang="fr-CH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ou droite (→) pour déplacer le curseur vers le numéro qui vous semble approprié. </a:t>
            </a:r>
          </a:p>
          <a:p>
            <a:r>
              <a:rPr lang="fr-CH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Utilisez la flèche vers le bas (↓) pour valider la réponse.</a:t>
            </a:r>
          </a:p>
          <a:p>
            <a:endParaRPr lang="en-US" sz="1152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sz="1152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38608F-D042-3436-1D01-F031046A8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783" y="1114501"/>
            <a:ext cx="5171546" cy="833000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FF96618F-2AB7-0AA7-0700-FBA8151AD12A}"/>
              </a:ext>
            </a:extLst>
          </p:cNvPr>
          <p:cNvSpPr txBox="1">
            <a:spLocks/>
          </p:cNvSpPr>
          <p:nvPr/>
        </p:nvSpPr>
        <p:spPr>
          <a:xfrm>
            <a:off x="3965171" y="3046696"/>
            <a:ext cx="1775230" cy="204368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‘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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’ pour </a:t>
            </a:r>
            <a:r>
              <a:rPr lang="en-US" sz="768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aller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à la page </a:t>
            </a:r>
            <a:r>
              <a:rPr lang="en-US" sz="768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suivante</a:t>
            </a:r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9601306-6085-27F6-1BB6-F0DF6839C67F}"/>
              </a:ext>
            </a:extLst>
          </p:cNvPr>
          <p:cNvSpPr txBox="1">
            <a:spLocks/>
          </p:cNvSpPr>
          <p:nvPr/>
        </p:nvSpPr>
        <p:spPr>
          <a:xfrm>
            <a:off x="-38180" y="3046696"/>
            <a:ext cx="2187831" cy="204368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‘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←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’ pour </a:t>
            </a:r>
            <a:r>
              <a:rPr lang="en-US" sz="768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retourner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à la page </a:t>
            </a:r>
            <a:r>
              <a:rPr lang="en-US" sz="768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précédante</a:t>
            </a:r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3420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600" y="1138365"/>
            <a:ext cx="5308080" cy="579375"/>
          </a:xfrm>
        </p:spPr>
        <p:txBody>
          <a:bodyPr>
            <a:noAutofit/>
          </a:bodyPr>
          <a:lstStyle/>
          <a:p>
            <a:r>
              <a:rPr lang="fr-CH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Tout est clair ? Des questions ?</a:t>
            </a:r>
          </a:p>
          <a:p>
            <a:endParaRPr lang="fr-CH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r>
              <a:rPr lang="fr-FR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Nous réglons maintenant le volume et faisons un exemple chacun, </a:t>
            </a:r>
            <a:br>
              <a:rPr lang="fr-FR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</a:br>
            <a:r>
              <a:rPr lang="fr-FR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puis nous commencerions.</a:t>
            </a:r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2902179" y="3086520"/>
            <a:ext cx="2949610" cy="204368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768" dirty="0">
              <a:latin typeface="D-DIN" charset="0"/>
              <a:ea typeface="D-DIN" charset="0"/>
              <a:cs typeface="D-DIN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1802C578-B4E3-CC55-767E-CB732B3980BE}"/>
              </a:ext>
            </a:extLst>
          </p:cNvPr>
          <p:cNvSpPr txBox="1">
            <a:spLocks/>
          </p:cNvSpPr>
          <p:nvPr/>
        </p:nvSpPr>
        <p:spPr>
          <a:xfrm>
            <a:off x="4015864" y="3086520"/>
            <a:ext cx="1835925" cy="204368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</a:t>
            </a:r>
            <a:r>
              <a:rPr lang="fr-CH" sz="768" dirty="0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</a:rPr>
              <a:t>‘</a:t>
            </a:r>
            <a:r>
              <a:rPr lang="fr-CH" sz="768" dirty="0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</a:t>
            </a:r>
            <a:r>
              <a:rPr lang="fr-CH" sz="768" dirty="0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</a:rPr>
              <a:t>’ pour commencer l’exemple</a:t>
            </a:r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6504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8139" y="450506"/>
            <a:ext cx="5308080" cy="579375"/>
          </a:xfrm>
        </p:spPr>
        <p:txBody>
          <a:bodyPr>
            <a:noAutofit/>
          </a:bodyPr>
          <a:lstStyle/>
          <a:p>
            <a:r>
              <a:rPr lang="fr-FR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Et veuillez noter</a:t>
            </a:r>
            <a:br>
              <a:rPr lang="fr-FR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</a:br>
            <a:r>
              <a:rPr lang="fr-FR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(à cause de l'EEG) :</a:t>
            </a:r>
            <a:endParaRPr lang="de-DE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de-DE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2902179" y="3086520"/>
            <a:ext cx="2949610" cy="204368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768" dirty="0">
              <a:latin typeface="D-DIN" charset="0"/>
              <a:ea typeface="D-DIN" charset="0"/>
              <a:cs typeface="D-DIN" charset="0"/>
            </a:endParaRPr>
          </a:p>
        </p:txBody>
      </p:sp>
      <p:pic>
        <p:nvPicPr>
          <p:cNvPr id="1028" name="Picture 4" descr="23.000+ Grafiken, lizenzfreie Vektorgrafiken und Clipart zu Blinzeln -  iStock | Geblendet, Augen zu, Augen zuhalten"/>
          <p:cNvPicPr>
            <a:picLocks noChangeAspect="1" noChangeArrowheads="1"/>
          </p:cNvPicPr>
          <p:nvPr/>
        </p:nvPicPr>
        <p:blipFill rotWithShape="1"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79" r="21940"/>
          <a:stretch/>
        </p:blipFill>
        <p:spPr bwMode="auto">
          <a:xfrm>
            <a:off x="1392694" y="1091512"/>
            <a:ext cx="568413" cy="105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ance, people, Silhouette, dancer, Fun, motion, Movement icon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1290" y="973419"/>
            <a:ext cx="1287207" cy="128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ubtitle 2"/>
          <p:cNvSpPr txBox="1">
            <a:spLocks/>
          </p:cNvSpPr>
          <p:nvPr/>
        </p:nvSpPr>
        <p:spPr>
          <a:xfrm>
            <a:off x="384062" y="2392909"/>
            <a:ext cx="2585678" cy="5793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38821" rtl="0" eaLnBrk="1" latinLnBrk="0" hangingPunct="1">
              <a:lnSpc>
                <a:spcPct val="90000"/>
              </a:lnSpc>
              <a:spcBef>
                <a:spcPts val="480"/>
              </a:spcBef>
              <a:buFont typeface="Arial" panose="020B0604020202020204" pitchFamily="34" charset="0"/>
              <a:buNone/>
              <a:defRPr sz="11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19410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8821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8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58231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7641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051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16462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35872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55282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Bouger les yeux ou </a:t>
            </a:r>
            <a:br>
              <a:rPr lang="fr-FR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</a:br>
            <a:r>
              <a:rPr lang="fr-FR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cligner des yeux </a:t>
            </a:r>
            <a:br>
              <a:rPr lang="fr-FR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</a:br>
            <a:r>
              <a:rPr lang="fr-FR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le moins possible</a:t>
            </a:r>
            <a:endParaRPr lang="de-DE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de-DE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  <p:sp>
        <p:nvSpPr>
          <p:cNvPr id="14" name="Subtitle 2"/>
          <p:cNvSpPr txBox="1">
            <a:spLocks/>
          </p:cNvSpPr>
          <p:nvPr/>
        </p:nvSpPr>
        <p:spPr>
          <a:xfrm>
            <a:off x="3164336" y="2582423"/>
            <a:ext cx="1701113" cy="5793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38821" rtl="0" eaLnBrk="1" latinLnBrk="0" hangingPunct="1">
              <a:lnSpc>
                <a:spcPct val="90000"/>
              </a:lnSpc>
              <a:spcBef>
                <a:spcPts val="480"/>
              </a:spcBef>
              <a:buFont typeface="Arial" panose="020B0604020202020204" pitchFamily="34" charset="0"/>
              <a:buNone/>
              <a:defRPr sz="11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19410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8821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8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58231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7641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051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16462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35872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55282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Bouger</a:t>
            </a:r>
            <a: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</a:t>
            </a:r>
            <a:b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</a:br>
            <a: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le </a:t>
            </a:r>
            <a:r>
              <a:rPr lang="de-DE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moins</a:t>
            </a:r>
            <a: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possible</a:t>
            </a:r>
            <a:endParaRPr lang="de-DE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de-DE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C3376C2B-FF7F-B272-180B-27A00DCCF4AA}"/>
              </a:ext>
            </a:extLst>
          </p:cNvPr>
          <p:cNvSpPr txBox="1">
            <a:spLocks/>
          </p:cNvSpPr>
          <p:nvPr/>
        </p:nvSpPr>
        <p:spPr>
          <a:xfrm>
            <a:off x="4297680" y="3086520"/>
            <a:ext cx="1554109" cy="204368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sz="768" dirty="0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</a:rPr>
              <a:t> ‘</a:t>
            </a:r>
            <a:r>
              <a:rPr lang="fr-CH" sz="768" dirty="0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</a:t>
            </a:r>
            <a:r>
              <a:rPr lang="fr-CH" sz="768" dirty="0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</a:rPr>
              <a:t>’ pour commencer</a:t>
            </a:r>
          </a:p>
        </p:txBody>
      </p:sp>
    </p:spTree>
    <p:extLst>
      <p:ext uri="{BB962C8B-B14F-4D97-AF65-F5344CB8AC3E}">
        <p14:creationId xmlns:p14="http://schemas.microsoft.com/office/powerpoint/2010/main" val="612942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549</Words>
  <Application>Microsoft Office PowerPoint</Application>
  <PresentationFormat>Benutzerdefiniert</PresentationFormat>
  <Paragraphs>50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D-DIN</vt:lpstr>
      <vt:lpstr>Wingdings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Frederike Petzschner</dc:creator>
  <cp:lastModifiedBy>Stoffel, Natascha</cp:lastModifiedBy>
  <cp:revision>58</cp:revision>
  <dcterms:created xsi:type="dcterms:W3CDTF">2016-06-23T20:32:13Z</dcterms:created>
  <dcterms:modified xsi:type="dcterms:W3CDTF">2023-08-29T07:43:15Z</dcterms:modified>
</cp:coreProperties>
</file>