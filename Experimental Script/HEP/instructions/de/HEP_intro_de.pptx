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9" r:id="rId3"/>
    <p:sldId id="261" r:id="rId4"/>
    <p:sldId id="262" r:id="rId5"/>
    <p:sldId id="260" r:id="rId6"/>
    <p:sldId id="263" r:id="rId7"/>
    <p:sldId id="264" r:id="rId8"/>
    <p:sldId id="266" r:id="rId9"/>
  </p:sldIdLst>
  <p:sldSz cx="5853113" cy="32908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3" userDrawn="1">
          <p15:clr>
            <a:srgbClr val="A4A3A4"/>
          </p15:clr>
        </p15:guide>
        <p15:guide id="2" pos="36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4C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4"/>
    <p:restoredTop sz="94677"/>
  </p:normalViewPr>
  <p:slideViewPr>
    <p:cSldViewPr snapToGrid="0" snapToObjects="1">
      <p:cViewPr varScale="1">
        <p:scale>
          <a:sx n="115" d="100"/>
          <a:sy n="115" d="100"/>
        </p:scale>
        <p:origin x="114" y="510"/>
      </p:cViewPr>
      <p:guideLst>
        <p:guide orient="horz" pos="2073"/>
        <p:guide pos="36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639" y="538578"/>
            <a:ext cx="4389835" cy="1145717"/>
          </a:xfrm>
        </p:spPr>
        <p:txBody>
          <a:bodyPr anchor="b"/>
          <a:lstStyle>
            <a:lvl1pPr algn="ctr">
              <a:defRPr sz="28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639" y="1728478"/>
            <a:ext cx="4389835" cy="794536"/>
          </a:xfrm>
        </p:spPr>
        <p:txBody>
          <a:bodyPr/>
          <a:lstStyle>
            <a:lvl1pPr marL="0" indent="0" algn="ctr">
              <a:buNone/>
              <a:defRPr sz="1152"/>
            </a:lvl1pPr>
            <a:lvl2pPr marL="219410" indent="0" algn="ctr">
              <a:buNone/>
              <a:defRPr sz="960"/>
            </a:lvl2pPr>
            <a:lvl3pPr marL="438821" indent="0" algn="ctr">
              <a:buNone/>
              <a:defRPr sz="864"/>
            </a:lvl3pPr>
            <a:lvl4pPr marL="658231" indent="0" algn="ctr">
              <a:buNone/>
              <a:defRPr sz="768"/>
            </a:lvl4pPr>
            <a:lvl5pPr marL="877641" indent="0" algn="ctr">
              <a:buNone/>
              <a:defRPr sz="768"/>
            </a:lvl5pPr>
            <a:lvl6pPr marL="1097051" indent="0" algn="ctr">
              <a:buNone/>
              <a:defRPr sz="768"/>
            </a:lvl6pPr>
            <a:lvl7pPr marL="1316462" indent="0" algn="ctr">
              <a:buNone/>
              <a:defRPr sz="768"/>
            </a:lvl7pPr>
            <a:lvl8pPr marL="1535872" indent="0" algn="ctr">
              <a:buNone/>
              <a:defRPr sz="768"/>
            </a:lvl8pPr>
            <a:lvl9pPr marL="1755282" indent="0" algn="ctr">
              <a:buNone/>
              <a:defRPr sz="76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77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84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353" y="820437"/>
            <a:ext cx="5048310" cy="1368918"/>
          </a:xfrm>
        </p:spPr>
        <p:txBody>
          <a:bodyPr anchor="b"/>
          <a:lstStyle>
            <a:lvl1pPr>
              <a:defRPr sz="28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9353" y="2202305"/>
            <a:ext cx="5048310" cy="719882"/>
          </a:xfrm>
        </p:spPr>
        <p:txBody>
          <a:bodyPr/>
          <a:lstStyle>
            <a:lvl1pPr marL="0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1pPr>
            <a:lvl2pPr marL="21941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2pPr>
            <a:lvl3pPr marL="438821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3pPr>
            <a:lvl4pPr marL="658231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4pPr>
            <a:lvl5pPr marL="877641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5pPr>
            <a:lvl6pPr marL="1097051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6pPr>
            <a:lvl7pPr marL="1316462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7pPr>
            <a:lvl8pPr marL="1535872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8pPr>
            <a:lvl9pPr marL="1755282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08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2402" y="876047"/>
            <a:ext cx="2487573" cy="208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63138" y="876047"/>
            <a:ext cx="2487573" cy="208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59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64" y="175210"/>
            <a:ext cx="5048310" cy="6360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164" y="806725"/>
            <a:ext cx="2476141" cy="395363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410" indent="0">
              <a:buNone/>
              <a:defRPr sz="960" b="1"/>
            </a:lvl2pPr>
            <a:lvl3pPr marL="438821" indent="0">
              <a:buNone/>
              <a:defRPr sz="864" b="1"/>
            </a:lvl3pPr>
            <a:lvl4pPr marL="658231" indent="0">
              <a:buNone/>
              <a:defRPr sz="768" b="1"/>
            </a:lvl4pPr>
            <a:lvl5pPr marL="877641" indent="0">
              <a:buNone/>
              <a:defRPr sz="768" b="1"/>
            </a:lvl5pPr>
            <a:lvl6pPr marL="1097051" indent="0">
              <a:buNone/>
              <a:defRPr sz="768" b="1"/>
            </a:lvl6pPr>
            <a:lvl7pPr marL="1316462" indent="0">
              <a:buNone/>
              <a:defRPr sz="768" b="1"/>
            </a:lvl7pPr>
            <a:lvl8pPr marL="1535872" indent="0">
              <a:buNone/>
              <a:defRPr sz="768" b="1"/>
            </a:lvl8pPr>
            <a:lvl9pPr marL="1755282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164" y="1202088"/>
            <a:ext cx="2476141" cy="1768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3139" y="806725"/>
            <a:ext cx="2488335" cy="395363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410" indent="0">
              <a:buNone/>
              <a:defRPr sz="960" b="1"/>
            </a:lvl2pPr>
            <a:lvl3pPr marL="438821" indent="0">
              <a:buNone/>
              <a:defRPr sz="864" b="1"/>
            </a:lvl3pPr>
            <a:lvl4pPr marL="658231" indent="0">
              <a:buNone/>
              <a:defRPr sz="768" b="1"/>
            </a:lvl4pPr>
            <a:lvl5pPr marL="877641" indent="0">
              <a:buNone/>
              <a:defRPr sz="768" b="1"/>
            </a:lvl5pPr>
            <a:lvl6pPr marL="1097051" indent="0">
              <a:buNone/>
              <a:defRPr sz="768" b="1"/>
            </a:lvl6pPr>
            <a:lvl7pPr marL="1316462" indent="0">
              <a:buNone/>
              <a:defRPr sz="768" b="1"/>
            </a:lvl7pPr>
            <a:lvl8pPr marL="1535872" indent="0">
              <a:buNone/>
              <a:defRPr sz="768" b="1"/>
            </a:lvl8pPr>
            <a:lvl9pPr marL="1755282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63139" y="1202088"/>
            <a:ext cx="2488335" cy="1768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08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52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470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64" y="219392"/>
            <a:ext cx="1887781" cy="767874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8336" y="473827"/>
            <a:ext cx="2963138" cy="2338663"/>
          </a:xfrm>
        </p:spPr>
        <p:txBody>
          <a:bodyPr/>
          <a:lstStyle>
            <a:lvl1pPr>
              <a:defRPr sz="1536"/>
            </a:lvl1pPr>
            <a:lvl2pPr>
              <a:defRPr sz="1344"/>
            </a:lvl2pPr>
            <a:lvl3pPr>
              <a:defRPr sz="1152"/>
            </a:lvl3pPr>
            <a:lvl4pPr>
              <a:defRPr sz="960"/>
            </a:lvl4pPr>
            <a:lvl5pPr>
              <a:defRPr sz="960"/>
            </a:lvl5pPr>
            <a:lvl6pPr>
              <a:defRPr sz="960"/>
            </a:lvl6pPr>
            <a:lvl7pPr>
              <a:defRPr sz="960"/>
            </a:lvl7pPr>
            <a:lvl8pPr>
              <a:defRPr sz="960"/>
            </a:lvl8pPr>
            <a:lvl9pPr>
              <a:defRPr sz="9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3164" y="987266"/>
            <a:ext cx="1887781" cy="1829033"/>
          </a:xfrm>
        </p:spPr>
        <p:txBody>
          <a:bodyPr/>
          <a:lstStyle>
            <a:lvl1pPr marL="0" indent="0">
              <a:buNone/>
              <a:defRPr sz="768"/>
            </a:lvl1pPr>
            <a:lvl2pPr marL="219410" indent="0">
              <a:buNone/>
              <a:defRPr sz="672"/>
            </a:lvl2pPr>
            <a:lvl3pPr marL="438821" indent="0">
              <a:buNone/>
              <a:defRPr sz="576"/>
            </a:lvl3pPr>
            <a:lvl4pPr marL="658231" indent="0">
              <a:buNone/>
              <a:defRPr sz="480"/>
            </a:lvl4pPr>
            <a:lvl5pPr marL="877641" indent="0">
              <a:buNone/>
              <a:defRPr sz="480"/>
            </a:lvl5pPr>
            <a:lvl6pPr marL="1097051" indent="0">
              <a:buNone/>
              <a:defRPr sz="480"/>
            </a:lvl6pPr>
            <a:lvl7pPr marL="1316462" indent="0">
              <a:buNone/>
              <a:defRPr sz="480"/>
            </a:lvl7pPr>
            <a:lvl8pPr marL="1535872" indent="0">
              <a:buNone/>
              <a:defRPr sz="480"/>
            </a:lvl8pPr>
            <a:lvl9pPr marL="1755282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85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64" y="219392"/>
            <a:ext cx="1887781" cy="767874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88336" y="473827"/>
            <a:ext cx="2963138" cy="2338663"/>
          </a:xfrm>
        </p:spPr>
        <p:txBody>
          <a:bodyPr anchor="t"/>
          <a:lstStyle>
            <a:lvl1pPr marL="0" indent="0">
              <a:buNone/>
              <a:defRPr sz="1536"/>
            </a:lvl1pPr>
            <a:lvl2pPr marL="219410" indent="0">
              <a:buNone/>
              <a:defRPr sz="1344"/>
            </a:lvl2pPr>
            <a:lvl3pPr marL="438821" indent="0">
              <a:buNone/>
              <a:defRPr sz="1152"/>
            </a:lvl3pPr>
            <a:lvl4pPr marL="658231" indent="0">
              <a:buNone/>
              <a:defRPr sz="960"/>
            </a:lvl4pPr>
            <a:lvl5pPr marL="877641" indent="0">
              <a:buNone/>
              <a:defRPr sz="960"/>
            </a:lvl5pPr>
            <a:lvl6pPr marL="1097051" indent="0">
              <a:buNone/>
              <a:defRPr sz="960"/>
            </a:lvl6pPr>
            <a:lvl7pPr marL="1316462" indent="0">
              <a:buNone/>
              <a:defRPr sz="960"/>
            </a:lvl7pPr>
            <a:lvl8pPr marL="1535872" indent="0">
              <a:buNone/>
              <a:defRPr sz="960"/>
            </a:lvl8pPr>
            <a:lvl9pPr marL="1755282" indent="0">
              <a:buNone/>
              <a:defRPr sz="9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3164" y="987266"/>
            <a:ext cx="1887781" cy="1829033"/>
          </a:xfrm>
        </p:spPr>
        <p:txBody>
          <a:bodyPr/>
          <a:lstStyle>
            <a:lvl1pPr marL="0" indent="0">
              <a:buNone/>
              <a:defRPr sz="768"/>
            </a:lvl1pPr>
            <a:lvl2pPr marL="219410" indent="0">
              <a:buNone/>
              <a:defRPr sz="672"/>
            </a:lvl2pPr>
            <a:lvl3pPr marL="438821" indent="0">
              <a:buNone/>
              <a:defRPr sz="576"/>
            </a:lvl3pPr>
            <a:lvl4pPr marL="658231" indent="0">
              <a:buNone/>
              <a:defRPr sz="480"/>
            </a:lvl4pPr>
            <a:lvl5pPr marL="877641" indent="0">
              <a:buNone/>
              <a:defRPr sz="480"/>
            </a:lvl5pPr>
            <a:lvl6pPr marL="1097051" indent="0">
              <a:buNone/>
              <a:defRPr sz="480"/>
            </a:lvl6pPr>
            <a:lvl7pPr marL="1316462" indent="0">
              <a:buNone/>
              <a:defRPr sz="480"/>
            </a:lvl7pPr>
            <a:lvl8pPr marL="1535872" indent="0">
              <a:buNone/>
              <a:defRPr sz="480"/>
            </a:lvl8pPr>
            <a:lvl9pPr marL="1755282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800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3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88634" y="175210"/>
            <a:ext cx="1262077" cy="27888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2401" y="175210"/>
            <a:ext cx="3713069" cy="2788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709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2402" y="175210"/>
            <a:ext cx="5048310" cy="636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402" y="876047"/>
            <a:ext cx="5048310" cy="208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2402" y="3050166"/>
            <a:ext cx="1316950" cy="175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8844" y="3050166"/>
            <a:ext cx="1975426" cy="175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33761" y="3050166"/>
            <a:ext cx="1316950" cy="175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821" rtl="0" eaLnBrk="1" latinLnBrk="0" hangingPunct="1">
        <a:lnSpc>
          <a:spcPct val="90000"/>
        </a:lnSpc>
        <a:spcBef>
          <a:spcPct val="0"/>
        </a:spcBef>
        <a:buNone/>
        <a:defRPr sz="21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05" indent="-109705" algn="l" defTabSz="438821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1pPr>
      <a:lvl2pPr marL="329115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2pPr>
      <a:lvl3pPr marL="548526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67936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987346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20675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42616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64557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86498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1pPr>
      <a:lvl2pPr marL="219410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2pPr>
      <a:lvl3pPr marL="43882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3pPr>
      <a:lvl4pPr marL="65823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87764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09705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316462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535872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755282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3" y="998773"/>
            <a:ext cx="5850467" cy="579375"/>
          </a:xfrm>
        </p:spPr>
        <p:txBody>
          <a:bodyPr>
            <a:noAutofit/>
          </a:bodyPr>
          <a:lstStyle/>
          <a:p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Während des folgenden Experiments werden Sie eines von zwei möglichen Symbolen für Aufgaben-Blöcke von je 20 Sekunden sehen:</a:t>
            </a: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Ein Herz oder ein Kopfhörer:</a:t>
            </a: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pic>
        <p:nvPicPr>
          <p:cNvPr id="5" name="Bild 2" descr="Macintosh HD:Users:fpetzschner:task:hbattTask:images:heart_img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392" y="1894811"/>
            <a:ext cx="296014" cy="437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Bild 4" descr="Macintosh HD:Users:fpetzschner:task:hbattTask:images:sound_img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19" y="1936500"/>
            <a:ext cx="479357" cy="39583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1323" y="467851"/>
            <a:ext cx="5850467" cy="579375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12" b="1" dirty="0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“</a:t>
            </a:r>
            <a:r>
              <a:rPr lang="en-US" sz="2112" b="1" dirty="0" err="1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Fokusieren</a:t>
            </a:r>
            <a:r>
              <a:rPr lang="en-US" sz="2112" b="1" dirty="0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 Sie </a:t>
            </a:r>
            <a:r>
              <a:rPr lang="en-US" sz="2112" b="1" dirty="0" err="1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Ihre</a:t>
            </a:r>
            <a:r>
              <a:rPr lang="en-US" sz="2112" b="1" dirty="0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en-US" sz="2112" b="1" dirty="0" err="1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Aufmerksamkeit</a:t>
            </a:r>
            <a:r>
              <a:rPr lang="en-US" sz="2112" b="1" dirty="0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”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3414584" y="3086520"/>
            <a:ext cx="2437205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</a:t>
            </a:r>
            <a:r>
              <a:rPr lang="de-DE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um zur nächsten Seite zu gelangen</a:t>
            </a:r>
          </a:p>
        </p:txBody>
      </p:sp>
    </p:spTree>
    <p:extLst>
      <p:ext uri="{BB962C8B-B14F-4D97-AF65-F5344CB8AC3E}">
        <p14:creationId xmlns:p14="http://schemas.microsoft.com/office/powerpoint/2010/main" val="274695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2" descr="Macintosh HD:Users:fpetzschner:task:hbattTask:images:heart_img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598" y="207205"/>
            <a:ext cx="546460" cy="75469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174299" y="1079941"/>
            <a:ext cx="5494134" cy="579375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344" b="1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Wann immer das Herzsymbol angezeigt wird,</a:t>
            </a:r>
            <a:br>
              <a:rPr lang="de-DE" sz="1344" b="1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sz="1344" b="1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konzentrieren Sie sich auf Ihren eigenen Herzschlag</a:t>
            </a:r>
            <a:br>
              <a:rPr lang="de-DE" sz="1344" b="1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sz="1344" b="1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solange das Bild auf dem Bildschirm zu sehen ist</a:t>
            </a:r>
            <a:r>
              <a:rPr lang="de-DE" sz="1344" b="1" dirty="0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!</a:t>
            </a:r>
            <a:endParaRPr lang="de-DE" sz="1344" b="1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240986" y="2024193"/>
            <a:ext cx="5360759" cy="46737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Bitte fühlen Sie dabei NICHT Ihren Puls oder verändern Sie nicht absichtlich Ihre Atmung, sondern </a:t>
            </a:r>
            <a:r>
              <a:rPr lang="de-DE" sz="1152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bleiben Sie ruhig sitzen und fixieren Sie das Symbol vor Ihnen</a:t>
            </a:r>
            <a:r>
              <a:rPr lang="de-DE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, während Sie mit Ihrer Aufmerksamkeit beim Herzschlag sind.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3925330" y="3046696"/>
            <a:ext cx="1815071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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für die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nächste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Seite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CED52DD-D67B-FCD2-8705-0795FF85C3B9}"/>
              </a:ext>
            </a:extLst>
          </p:cNvPr>
          <p:cNvSpPr txBox="1">
            <a:spLocks/>
          </p:cNvSpPr>
          <p:nvPr/>
        </p:nvSpPr>
        <p:spPr>
          <a:xfrm>
            <a:off x="-86200" y="3046696"/>
            <a:ext cx="2187831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←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für die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vorherige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Seite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124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 txBox="1">
            <a:spLocks/>
          </p:cNvSpPr>
          <p:nvPr/>
        </p:nvSpPr>
        <p:spPr>
          <a:xfrm>
            <a:off x="218303" y="1227818"/>
            <a:ext cx="5399901" cy="579375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Wann immer der Kopfhörer gezeigt wird, </a:t>
            </a:r>
            <a:br>
              <a:rPr lang="de-DE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sz="1152" b="1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konzentrieren Sie sich auf </a:t>
            </a:r>
            <a:r>
              <a:rPr lang="de-DE" sz="1152" b="1" u="sng" dirty="0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das Rauschen </a:t>
            </a:r>
            <a:r>
              <a:rPr lang="de-DE" sz="1152" b="1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in Ihrem Kopfhörer,</a:t>
            </a:r>
            <a:br>
              <a:rPr lang="de-DE" sz="1152" b="1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während der gesamten Dauer, in der das Bild auf dem Bildschirm angezeigt </a:t>
            </a:r>
            <a:r>
              <a:rPr lang="de-DE" sz="1152" dirty="0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wird</a:t>
            </a:r>
            <a:r>
              <a:rPr lang="de-DE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!</a:t>
            </a:r>
            <a:endParaRPr lang="en-US" sz="1152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pic>
        <p:nvPicPr>
          <p:cNvPr id="8" name="Bild 4" descr="Macintosh HD:Users:fpetzschner:task:hbattTask:images:sound_img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533" y="268560"/>
            <a:ext cx="977081" cy="80075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320924" y="2207741"/>
            <a:ext cx="5194658" cy="348300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Bitte </a:t>
            </a:r>
            <a:r>
              <a:rPr lang="de-DE" sz="1152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bleiben Sie auch hier ruhig sitzen und fixieren Sie das Symbol vor Ihnen</a:t>
            </a:r>
            <a:r>
              <a:rPr lang="de-DE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F7CECDF-7893-1B21-DAA7-9B14712C4200}"/>
              </a:ext>
            </a:extLst>
          </p:cNvPr>
          <p:cNvSpPr txBox="1">
            <a:spLocks/>
          </p:cNvSpPr>
          <p:nvPr/>
        </p:nvSpPr>
        <p:spPr>
          <a:xfrm>
            <a:off x="4011827" y="3063896"/>
            <a:ext cx="1728574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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für die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nächste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Seite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78ACABD-FD6A-10CE-4B0F-AB6235689ED7}"/>
              </a:ext>
            </a:extLst>
          </p:cNvPr>
          <p:cNvSpPr txBox="1">
            <a:spLocks/>
          </p:cNvSpPr>
          <p:nvPr/>
        </p:nvSpPr>
        <p:spPr>
          <a:xfrm>
            <a:off x="-110913" y="3063896"/>
            <a:ext cx="2187831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←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für die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vorherige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Seite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361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 txBox="1">
            <a:spLocks/>
          </p:cNvSpPr>
          <p:nvPr/>
        </p:nvSpPr>
        <p:spPr>
          <a:xfrm>
            <a:off x="350108" y="965658"/>
            <a:ext cx="5107459" cy="579375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Wann immer Sie das Fixierungskreuz sehen,</a:t>
            </a:r>
            <a:br>
              <a:rPr lang="de-DE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sz="1152" b="1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können Sie sich entspannen und an das denken, was Sie wollen.</a:t>
            </a:r>
          </a:p>
          <a:p>
            <a:endParaRPr lang="de-DE" sz="1152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de-DE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Dies ist Ihre Pause zwischen den Fokussierungsaufgaben, </a:t>
            </a:r>
            <a:br>
              <a:rPr lang="de-DE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also sollten Sie vielleicht tief durchatmen, damit Sie bereit sind, </a:t>
            </a:r>
            <a:br>
              <a:rPr lang="de-DE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wenn es wieder losgeht. </a:t>
            </a:r>
          </a:p>
          <a:p>
            <a:r>
              <a:rPr lang="de-DE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Bitte </a:t>
            </a:r>
            <a:r>
              <a:rPr lang="de-DE" sz="1152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versuchen Sie auch, den Blick nicht vom Fixierkreuz zu nehmen</a:t>
            </a:r>
          </a:p>
          <a:p>
            <a:endParaRPr lang="en-US" sz="1152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8D5FB5-E5C6-6E11-B185-09CEAAA1D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528" y="250560"/>
            <a:ext cx="695325" cy="647700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6E857F51-265D-ED76-BDF1-2062E2183437}"/>
              </a:ext>
            </a:extLst>
          </p:cNvPr>
          <p:cNvSpPr txBox="1">
            <a:spLocks/>
          </p:cNvSpPr>
          <p:nvPr/>
        </p:nvSpPr>
        <p:spPr>
          <a:xfrm>
            <a:off x="3950043" y="3054282"/>
            <a:ext cx="1790358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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für die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nächste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Seite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F7897540-05F8-5588-E9F1-0816BD1C3D65}"/>
              </a:ext>
            </a:extLst>
          </p:cNvPr>
          <p:cNvSpPr txBox="1">
            <a:spLocks/>
          </p:cNvSpPr>
          <p:nvPr/>
        </p:nvSpPr>
        <p:spPr>
          <a:xfrm>
            <a:off x="-98557" y="3054282"/>
            <a:ext cx="2187831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←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für die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vorherige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Seite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088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151" y="281057"/>
            <a:ext cx="5515362" cy="901760"/>
          </a:xfrm>
        </p:spPr>
        <p:txBody>
          <a:bodyPr>
            <a:noAutofit/>
          </a:bodyPr>
          <a:lstStyle/>
          <a:p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Weiteres:</a:t>
            </a:r>
            <a:b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Wir sind daran interessiert, Ihr Erleben zu testen, während Sie sich auf Ihr Herz oder den Klang Ihres Kopfhörers konzentrieren.</a:t>
            </a: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Deshalb werden wir Ihnen nach jedem Aufmerksamkeitsblock eine Frage </a:t>
            </a:r>
            <a:r>
              <a:rPr lang="de-DE" dirty="0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dazu stellen, </a:t>
            </a:r>
            <a:r>
              <a:rPr lang="de-DE" i="1" dirty="0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was Sie gehört haben, welche Assoziationen Sie damit haben </a:t>
            </a:r>
            <a:r>
              <a:rPr lang="de-DE" dirty="0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etc.</a:t>
            </a:r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Diese Fragen beziehen sich immer auf den letzten Block, den Sie gerade erlebt haben (entweder Herz oder Rauschen). Bitte </a:t>
            </a:r>
            <a:r>
              <a:rPr lang="de-DE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antworten Sie schnell 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und "aus dem Bauch heraus" - ohne zu viel oder zu lange darüber nachzudenken.</a:t>
            </a:r>
          </a:p>
          <a:p>
            <a:endParaRPr lang="en-US" dirty="0">
              <a:latin typeface="D-DIN" charset="0"/>
              <a:ea typeface="D-DIN" charset="0"/>
              <a:cs typeface="D-DIN" charset="0"/>
            </a:endParaRPr>
          </a:p>
          <a:p>
            <a:r>
              <a:rPr lang="de-CH" sz="1100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Es ist also sehr wichtig, dass Sie sich bemühen, Ihre Aufmerksamkeit </a:t>
            </a:r>
            <a:br>
              <a:rPr lang="de-CH" sz="1100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CH" sz="1100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während </a:t>
            </a:r>
            <a:r>
              <a:rPr lang="de-CH" sz="1100" u="sng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jedes Blocks </a:t>
            </a:r>
            <a:r>
              <a:rPr lang="de-CH" sz="1100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für die </a:t>
            </a:r>
            <a:r>
              <a:rPr lang="de-CH" sz="1100" u="sng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gesamte Dauer </a:t>
            </a:r>
            <a:r>
              <a:rPr lang="de-CH" sz="1100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des Blocks </a:t>
            </a:r>
            <a:br>
              <a:rPr lang="de-CH" sz="1100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CH" sz="1100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auf die entsprechende Aufgabe zu fokussieren.</a:t>
            </a:r>
            <a:endParaRPr lang="en-US" sz="1100" dirty="0"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9340A99-A464-22DF-1C25-57D23BC84C73}"/>
              </a:ext>
            </a:extLst>
          </p:cNvPr>
          <p:cNvSpPr txBox="1">
            <a:spLocks/>
          </p:cNvSpPr>
          <p:nvPr/>
        </p:nvSpPr>
        <p:spPr>
          <a:xfrm>
            <a:off x="3925330" y="3063896"/>
            <a:ext cx="1815071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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für die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nächste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Seite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7E92A2F-F00B-5E8C-B4B3-F915957673B5}"/>
              </a:ext>
            </a:extLst>
          </p:cNvPr>
          <p:cNvSpPr txBox="1">
            <a:spLocks/>
          </p:cNvSpPr>
          <p:nvPr/>
        </p:nvSpPr>
        <p:spPr>
          <a:xfrm>
            <a:off x="-127389" y="3063896"/>
            <a:ext cx="2187831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←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für die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vorherige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Seite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011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08822"/>
            <a:ext cx="5850467" cy="579375"/>
          </a:xfrm>
        </p:spPr>
        <p:txBody>
          <a:bodyPr>
            <a:noAutofit/>
          </a:bodyPr>
          <a:lstStyle/>
          <a:p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Jede Frage kann auf einer Skala von </a:t>
            </a:r>
            <a:r>
              <a:rPr lang="de-DE" dirty="0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/>
            </a:r>
            <a:br>
              <a:rPr lang="de-DE" dirty="0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b="1" dirty="0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1 </a:t>
            </a:r>
            <a:r>
              <a:rPr lang="de-DE" b="1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(überhaupt nicht) bis 10 (sehr stark) </a:t>
            </a:r>
            <a:br>
              <a:rPr lang="de-DE" b="1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beantwortet werden. </a:t>
            </a:r>
          </a:p>
          <a:p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Sie geben Ihre Antwort an, indem Sie die für Sie passende Zahl auswählen.</a:t>
            </a:r>
          </a:p>
          <a:p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Zum Beispiel:								</a:t>
            </a:r>
          </a:p>
          <a:p>
            <a:r>
              <a:rPr lang="de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									</a:t>
            </a:r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323" y="2029765"/>
            <a:ext cx="5850467" cy="579375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Bei diesen Fragen, brauchen Sie den linken (←) oder rechten Pfeil (→) </a:t>
            </a:r>
            <a:br>
              <a:rPr lang="de-DE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um den Cursor auf die Zahl zu setzten, die Ihnen angemessen erscheint</a:t>
            </a:r>
          </a:p>
          <a:p>
            <a:r>
              <a:rPr lang="de-DE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Brauchen Sie den nach unten gerichteten Pfeil (↓) um Ihre Antwort zu bestätigen.</a:t>
            </a:r>
          </a:p>
          <a:p>
            <a:endParaRPr lang="en-US" sz="1152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1152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38608F-D042-3436-1D01-F031046A8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83" y="1155797"/>
            <a:ext cx="5171546" cy="833000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A7065EB0-D938-C222-59AF-464FD56B5AC5}"/>
              </a:ext>
            </a:extLst>
          </p:cNvPr>
          <p:cNvSpPr txBox="1">
            <a:spLocks/>
          </p:cNvSpPr>
          <p:nvPr/>
        </p:nvSpPr>
        <p:spPr>
          <a:xfrm>
            <a:off x="4003589" y="3066608"/>
            <a:ext cx="1736812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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für die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nächste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Seite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4A3163F-A3CD-DDE3-506B-F68A4CFC7AE8}"/>
              </a:ext>
            </a:extLst>
          </p:cNvPr>
          <p:cNvSpPr txBox="1">
            <a:spLocks/>
          </p:cNvSpPr>
          <p:nvPr/>
        </p:nvSpPr>
        <p:spPr>
          <a:xfrm>
            <a:off x="-147983" y="3066608"/>
            <a:ext cx="2187831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←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für die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vorherige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en-US" sz="768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Seite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420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600" y="1138365"/>
            <a:ext cx="5308080" cy="579375"/>
          </a:xfrm>
        </p:spPr>
        <p:txBody>
          <a:bodyPr>
            <a:noAutofit/>
          </a:bodyPr>
          <a:lstStyle/>
          <a:p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Alles klar ? Noch Fragen ?</a:t>
            </a: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Wir stellen nun die Lautstärke ein</a:t>
            </a:r>
            <a:r>
              <a:rPr lang="de-DE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, </a:t>
            </a:r>
            <a:r>
              <a:rPr lang="de-DE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/>
            </a:r>
            <a:br>
              <a:rPr lang="de-DE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und 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machen je ein Beispiel </a:t>
            </a:r>
            <a:b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und danach würden wir beginnen.</a:t>
            </a: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902179" y="3086520"/>
            <a:ext cx="2949610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68" dirty="0"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BEC690D-DFAE-1914-3EE4-8087E5ABC8FB}"/>
              </a:ext>
            </a:extLst>
          </p:cNvPr>
          <p:cNvSpPr txBox="1">
            <a:spLocks/>
          </p:cNvSpPr>
          <p:nvPr/>
        </p:nvSpPr>
        <p:spPr>
          <a:xfrm>
            <a:off x="4098990" y="3096652"/>
            <a:ext cx="1752799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‘</a:t>
            </a:r>
            <a:r>
              <a:rPr lang="en-US" sz="768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</a:t>
            </a:r>
            <a:r>
              <a:rPr lang="en-US" sz="768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’ um </a:t>
            </a:r>
            <a:r>
              <a:rPr lang="en-US" sz="768" dirty="0" err="1" smtClean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mit</a:t>
            </a:r>
            <a:r>
              <a:rPr lang="en-US" sz="768" dirty="0" smtClean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en-US" sz="768" dirty="0" err="1" smtClean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dem</a:t>
            </a:r>
            <a:r>
              <a:rPr lang="en-US" sz="768" dirty="0" smtClean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en-US" sz="768" dirty="0" err="1" smtClean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Beispiel</a:t>
            </a:r>
            <a:r>
              <a:rPr lang="en-US" sz="768" dirty="0" smtClean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en-US" sz="768" dirty="0" err="1" smtClean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zu</a:t>
            </a:r>
            <a:r>
              <a:rPr lang="en-US" sz="768" dirty="0" smtClean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en-US" sz="768" dirty="0" err="1" smtClean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starten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504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8139" y="450506"/>
            <a:ext cx="5308080" cy="579375"/>
          </a:xfrm>
        </p:spPr>
        <p:txBody>
          <a:bodyPr>
            <a:noAutofit/>
          </a:bodyPr>
          <a:lstStyle/>
          <a:p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Und bitte beachten Sie</a:t>
            </a:r>
            <a:b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(wegen dem EEG):</a:t>
            </a: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902179" y="3086520"/>
            <a:ext cx="2949610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68" dirty="0">
              <a:latin typeface="D-DIN" charset="0"/>
              <a:ea typeface="D-DIN" charset="0"/>
              <a:cs typeface="D-DIN" charset="0"/>
            </a:endParaRPr>
          </a:p>
        </p:txBody>
      </p:sp>
      <p:pic>
        <p:nvPicPr>
          <p:cNvPr id="1028" name="Picture 4" descr="23.000+ Grafiken, lizenzfreie Vektorgrafiken und Clipart zu Blinzeln -  iStock | Geblendet, Augen zu, Augen zuhalten"/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79" r="21940"/>
          <a:stretch/>
        </p:blipFill>
        <p:spPr bwMode="auto">
          <a:xfrm>
            <a:off x="1392694" y="1091512"/>
            <a:ext cx="568413" cy="105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ance, people, Silhouette, dancer, Fun, motion, Movement icon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290" y="973419"/>
            <a:ext cx="1287207" cy="128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ubtitle 2"/>
          <p:cNvSpPr txBox="1">
            <a:spLocks/>
          </p:cNvSpPr>
          <p:nvPr/>
        </p:nvSpPr>
        <p:spPr>
          <a:xfrm>
            <a:off x="384062" y="2392909"/>
            <a:ext cx="2585678" cy="579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38821" rtl="0" eaLnBrk="1" latinLnBrk="0" hangingPunct="1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None/>
              <a:defRPr sz="11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9410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82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8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23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764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05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1646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587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5528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So wenig wie möglich </a:t>
            </a:r>
            <a:b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die Augen bewegen </a:t>
            </a:r>
            <a:b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oder Blinzeln </a:t>
            </a: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3164336" y="2392909"/>
            <a:ext cx="1701113" cy="579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38821" rtl="0" eaLnBrk="1" latinLnBrk="0" hangingPunct="1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None/>
              <a:defRPr sz="11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9410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82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8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23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764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05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1646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587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5528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So wenig wie möglich </a:t>
            </a:r>
            <a:b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bewegen</a:t>
            </a: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1739932F-D59D-ECCD-928B-552811641770}"/>
              </a:ext>
            </a:extLst>
          </p:cNvPr>
          <p:cNvSpPr txBox="1">
            <a:spLocks/>
          </p:cNvSpPr>
          <p:nvPr/>
        </p:nvSpPr>
        <p:spPr>
          <a:xfrm>
            <a:off x="4659821" y="3086520"/>
            <a:ext cx="1193292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‘</a:t>
            </a:r>
            <a:r>
              <a:rPr lang="en-US" sz="768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</a:t>
            </a:r>
            <a:r>
              <a:rPr lang="en-US" sz="768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’ um </a:t>
            </a:r>
            <a:r>
              <a:rPr lang="en-US" sz="768" dirty="0" err="1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zu</a:t>
            </a:r>
            <a:r>
              <a:rPr lang="en-US" sz="768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en-US" sz="768" dirty="0" err="1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starten</a:t>
            </a:r>
            <a:endParaRPr lang="en-US" sz="768" dirty="0">
              <a:solidFill>
                <a:srgbClr val="FF0000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646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579</Words>
  <Application>Microsoft Office PowerPoint</Application>
  <PresentationFormat>Benutzerdefiniert</PresentationFormat>
  <Paragraphs>55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D-DIN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Frederike Petzschner</dc:creator>
  <cp:lastModifiedBy>Stoffel, Natascha</cp:lastModifiedBy>
  <cp:revision>63</cp:revision>
  <dcterms:created xsi:type="dcterms:W3CDTF">2016-06-23T20:32:13Z</dcterms:created>
  <dcterms:modified xsi:type="dcterms:W3CDTF">2023-08-29T07:40:39Z</dcterms:modified>
</cp:coreProperties>
</file>